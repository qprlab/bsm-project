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3" r:id="rId1"/>
  </p:sldMasterIdLst>
  <p:notesMasterIdLst>
    <p:notesMasterId r:id="rId16"/>
  </p:notesMasterIdLst>
  <p:sldIdLst>
    <p:sldId id="256" r:id="rId2"/>
    <p:sldId id="341" r:id="rId3"/>
    <p:sldId id="344" r:id="rId4"/>
    <p:sldId id="315" r:id="rId5"/>
    <p:sldId id="378" r:id="rId6"/>
    <p:sldId id="384" r:id="rId7"/>
    <p:sldId id="326" r:id="rId8"/>
    <p:sldId id="345" r:id="rId9"/>
    <p:sldId id="383" r:id="rId10"/>
    <p:sldId id="379" r:id="rId11"/>
    <p:sldId id="386" r:id="rId12"/>
    <p:sldId id="385" r:id="rId13"/>
    <p:sldId id="381" r:id="rId14"/>
    <p:sldId id="38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4E9F1D-2163-4516-8121-DCD772281D21}" type="doc">
      <dgm:prSet loTypeId="urn:microsoft.com/office/officeart/2005/8/layout/default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7C1EC91D-E6D7-4EE9-918B-59DB29A09A52}">
      <dgm:prSet custT="1"/>
      <dgm:spPr/>
      <dgm:t>
        <a:bodyPr/>
        <a:lstStyle/>
        <a:p>
          <a:r>
            <a:rPr lang="en-US" sz="1000" b="1" dirty="0" err="1"/>
            <a:t>WLTCMock</a:t>
          </a:r>
          <a:r>
            <a:rPr lang="en-US" sz="1000" b="1" dirty="0"/>
            <a:t>: 0x75B8CDe44E33135E6A08a59A23fC1e244A762501</a:t>
          </a:r>
          <a:endParaRPr lang="en-US" sz="1000" dirty="0"/>
        </a:p>
      </dgm:t>
    </dgm:pt>
    <dgm:pt modelId="{8FCB0CA2-06FC-439E-BB8F-18A117BE7995}" type="parTrans" cxnId="{F46D2C8E-F5ED-4356-8C0B-0668B9A17132}">
      <dgm:prSet/>
      <dgm:spPr/>
      <dgm:t>
        <a:bodyPr/>
        <a:lstStyle/>
        <a:p>
          <a:endParaRPr lang="en-US" sz="1000"/>
        </a:p>
      </dgm:t>
    </dgm:pt>
    <dgm:pt modelId="{96FE6F44-72CA-4450-A1C9-E817BE770157}" type="sibTrans" cxnId="{F46D2C8E-F5ED-4356-8C0B-0668B9A17132}">
      <dgm:prSet/>
      <dgm:spPr/>
      <dgm:t>
        <a:bodyPr/>
        <a:lstStyle/>
        <a:p>
          <a:endParaRPr lang="en-US" sz="1000"/>
        </a:p>
      </dgm:t>
    </dgm:pt>
    <dgm:pt modelId="{8F09895C-90EA-475B-9446-A566DC3ABD29}">
      <dgm:prSet custT="1"/>
      <dgm:spPr/>
      <dgm:t>
        <a:bodyPr/>
        <a:lstStyle/>
        <a:p>
          <a:r>
            <a:rPr lang="en-US" sz="1000" b="1" dirty="0" err="1"/>
            <a:t>USDCMock</a:t>
          </a:r>
          <a:r>
            <a:rPr lang="en-US" sz="1000" b="1" dirty="0"/>
            <a:t>: 0x790fB0d2b3EDd1962A58d8F6095F3508c017E742</a:t>
          </a:r>
          <a:endParaRPr lang="en-US" sz="1000" dirty="0"/>
        </a:p>
      </dgm:t>
    </dgm:pt>
    <dgm:pt modelId="{CB16B77D-7C60-4D94-95B7-872465B5674E}" type="parTrans" cxnId="{15EA7E90-5BDB-492F-9189-F74801414E18}">
      <dgm:prSet/>
      <dgm:spPr/>
      <dgm:t>
        <a:bodyPr/>
        <a:lstStyle/>
        <a:p>
          <a:endParaRPr lang="en-US" sz="1000"/>
        </a:p>
      </dgm:t>
    </dgm:pt>
    <dgm:pt modelId="{6A1FF943-2F22-429E-B0D5-6301FDDD9478}" type="sibTrans" cxnId="{15EA7E90-5BDB-492F-9189-F74801414E18}">
      <dgm:prSet/>
      <dgm:spPr/>
      <dgm:t>
        <a:bodyPr/>
        <a:lstStyle/>
        <a:p>
          <a:endParaRPr lang="en-US" sz="1000"/>
        </a:p>
      </dgm:t>
    </dgm:pt>
    <dgm:pt modelId="{013092CE-4959-49A1-9E2A-B5F4CCB22AB2}">
      <dgm:prSet custT="1"/>
      <dgm:spPr/>
      <dgm:t>
        <a:bodyPr/>
        <a:lstStyle/>
        <a:p>
          <a:r>
            <a:rPr lang="en-US" sz="1000" b="1" dirty="0" err="1"/>
            <a:t>StableToken</a:t>
          </a:r>
          <a:r>
            <a:rPr lang="en-US" sz="1000" b="1" dirty="0"/>
            <a:t>: 0x827835DE6D96B30255B26d90C93aaed2900decd4</a:t>
          </a:r>
          <a:endParaRPr lang="en-US" sz="1000" dirty="0"/>
        </a:p>
      </dgm:t>
    </dgm:pt>
    <dgm:pt modelId="{104F06CB-719E-4176-BD5B-586E51CA5FFA}" type="parTrans" cxnId="{D6D5A899-46AA-4CD0-A512-938D313AA7CC}">
      <dgm:prSet/>
      <dgm:spPr/>
      <dgm:t>
        <a:bodyPr/>
        <a:lstStyle/>
        <a:p>
          <a:endParaRPr lang="en-US" sz="1000"/>
        </a:p>
      </dgm:t>
    </dgm:pt>
    <dgm:pt modelId="{7F979A8A-7DCE-431A-80BE-97DF94F9BB30}" type="sibTrans" cxnId="{D6D5A899-46AA-4CD0-A512-938D313AA7CC}">
      <dgm:prSet/>
      <dgm:spPr/>
      <dgm:t>
        <a:bodyPr/>
        <a:lstStyle/>
        <a:p>
          <a:endParaRPr lang="en-US" sz="1000"/>
        </a:p>
      </dgm:t>
    </dgm:pt>
    <dgm:pt modelId="{C2D65083-0117-4A35-9544-19FA99BDB0BD}">
      <dgm:prSet custT="1"/>
      <dgm:spPr/>
      <dgm:t>
        <a:bodyPr/>
        <a:lstStyle/>
        <a:p>
          <a:r>
            <a:rPr lang="en-US" sz="1000" b="1" dirty="0" err="1"/>
            <a:t>MultiLeverageToken</a:t>
          </a:r>
          <a:r>
            <a:rPr lang="en-US" sz="1000" b="1" dirty="0"/>
            <a:t>: 0xe2d4343fc854862f0792b807c9e897935B039E02</a:t>
          </a:r>
          <a:endParaRPr lang="en-US" sz="1000" dirty="0"/>
        </a:p>
      </dgm:t>
    </dgm:pt>
    <dgm:pt modelId="{C4D0F353-142B-46C8-9C30-8A966A8D1D07}" type="parTrans" cxnId="{E246C501-B970-481D-AE5D-EE442D88FCC5}">
      <dgm:prSet/>
      <dgm:spPr/>
      <dgm:t>
        <a:bodyPr/>
        <a:lstStyle/>
        <a:p>
          <a:endParaRPr lang="en-US" sz="1000"/>
        </a:p>
      </dgm:t>
    </dgm:pt>
    <dgm:pt modelId="{4B5DFCDE-EFB4-47BD-9B5D-C9192B42BFBD}" type="sibTrans" cxnId="{E246C501-B970-481D-AE5D-EE442D88FCC5}">
      <dgm:prSet/>
      <dgm:spPr/>
      <dgm:t>
        <a:bodyPr/>
        <a:lstStyle/>
        <a:p>
          <a:endParaRPr lang="en-US" sz="1000"/>
        </a:p>
      </dgm:t>
    </dgm:pt>
    <dgm:pt modelId="{E1ED2335-FDDB-4153-8816-D4B1D7687202}">
      <dgm:prSet custT="1"/>
      <dgm:spPr>
        <a:gradFill flip="none" rotWithShape="0">
          <a:gsLst>
            <a:gs pos="0">
              <a:srgbClr val="C00000">
                <a:shade val="30000"/>
                <a:satMod val="115000"/>
              </a:srgbClr>
            </a:gs>
            <a:gs pos="50000">
              <a:srgbClr val="C00000">
                <a:shade val="67500"/>
                <a:satMod val="115000"/>
              </a:srgbClr>
            </a:gs>
            <a:gs pos="100000">
              <a:srgbClr val="C00000">
                <a:shade val="100000"/>
                <a:satMod val="115000"/>
              </a:srgbClr>
            </a:gs>
          </a:gsLst>
          <a:lin ang="2700000" scaled="1"/>
          <a:tileRect/>
        </a:gradFill>
      </dgm:spPr>
      <dgm:t>
        <a:bodyPr/>
        <a:lstStyle/>
        <a:p>
          <a:r>
            <a:rPr lang="en-US" sz="1000" b="1" dirty="0" err="1"/>
            <a:t>InterestManager</a:t>
          </a:r>
          <a:r>
            <a:rPr lang="en-US" sz="1000" b="1" dirty="0"/>
            <a:t>: 0x838c8860f721494B88Bb0C60Aad08C5e135a6a9e</a:t>
          </a:r>
          <a:endParaRPr lang="en-US" sz="1000" dirty="0"/>
        </a:p>
      </dgm:t>
    </dgm:pt>
    <dgm:pt modelId="{E174D5AE-DE9C-42B6-BC60-20971A76B70F}" type="parTrans" cxnId="{EFBBCB0A-968F-4D2A-8ACE-D79BBF58C08E}">
      <dgm:prSet/>
      <dgm:spPr/>
      <dgm:t>
        <a:bodyPr/>
        <a:lstStyle/>
        <a:p>
          <a:endParaRPr lang="en-US" sz="1000"/>
        </a:p>
      </dgm:t>
    </dgm:pt>
    <dgm:pt modelId="{AC2965A3-51F0-45DE-9113-AA0BFC7A78F9}" type="sibTrans" cxnId="{EFBBCB0A-968F-4D2A-8ACE-D79BBF58C08E}">
      <dgm:prSet/>
      <dgm:spPr/>
      <dgm:t>
        <a:bodyPr/>
        <a:lstStyle/>
        <a:p>
          <a:endParaRPr lang="en-US" sz="1000"/>
        </a:p>
      </dgm:t>
    </dgm:pt>
    <dgm:pt modelId="{41E68B89-FEB9-46EA-9186-8DB3936EA2EC}">
      <dgm:prSet custT="1"/>
      <dgm:spPr>
        <a:gradFill flip="none" rotWithShape="0">
          <a:gsLst>
            <a:gs pos="0">
              <a:srgbClr val="C00000">
                <a:shade val="30000"/>
                <a:satMod val="115000"/>
              </a:srgbClr>
            </a:gs>
            <a:gs pos="50000">
              <a:srgbClr val="C00000">
                <a:shade val="67500"/>
                <a:satMod val="115000"/>
              </a:srgbClr>
            </a:gs>
            <a:gs pos="100000">
              <a:srgbClr val="C00000">
                <a:shade val="100000"/>
                <a:satMod val="115000"/>
              </a:srgbClr>
            </a:gs>
          </a:gsLst>
          <a:lin ang="2700000" scaled="1"/>
          <a:tileRect/>
        </a:gradFill>
      </dgm:spPr>
      <dgm:t>
        <a:bodyPr/>
        <a:lstStyle/>
        <a:p>
          <a:r>
            <a:rPr lang="en-US" sz="1000" b="1" dirty="0" err="1"/>
            <a:t>LTCPriceOracle</a:t>
          </a:r>
          <a:r>
            <a:rPr lang="en-US" sz="1000" b="1" dirty="0"/>
            <a:t>: 0x54D0121C209c0bF550e5600aA98DffBB2aEd77F7</a:t>
          </a:r>
          <a:endParaRPr lang="en-US" sz="1000" dirty="0"/>
        </a:p>
      </dgm:t>
    </dgm:pt>
    <dgm:pt modelId="{5AB9DE9C-F465-4D16-8E27-74E31DAC8463}" type="parTrans" cxnId="{263291BA-7908-43A4-8B0E-15A724D30C1A}">
      <dgm:prSet/>
      <dgm:spPr/>
      <dgm:t>
        <a:bodyPr/>
        <a:lstStyle/>
        <a:p>
          <a:endParaRPr lang="en-US" sz="1000"/>
        </a:p>
      </dgm:t>
    </dgm:pt>
    <dgm:pt modelId="{FD9C1C77-3C3B-4E59-94C1-E0F8941F8834}" type="sibTrans" cxnId="{263291BA-7908-43A4-8B0E-15A724D30C1A}">
      <dgm:prSet/>
      <dgm:spPr/>
      <dgm:t>
        <a:bodyPr/>
        <a:lstStyle/>
        <a:p>
          <a:endParaRPr lang="en-US" sz="1000"/>
        </a:p>
      </dgm:t>
    </dgm:pt>
    <dgm:pt modelId="{0C5E1157-189E-449C-87CB-542F7B03640D}">
      <dgm:prSet custT="1"/>
      <dgm:spPr>
        <a:gradFill flip="none" rotWithShape="0">
          <a:gsLst>
            <a:gs pos="0">
              <a:srgbClr val="C00000">
                <a:shade val="30000"/>
                <a:satMod val="115000"/>
              </a:srgbClr>
            </a:gs>
            <a:gs pos="50000">
              <a:srgbClr val="C00000">
                <a:shade val="67500"/>
                <a:satMod val="115000"/>
              </a:srgbClr>
            </a:gs>
            <a:gs pos="100000">
              <a:srgbClr val="C00000">
                <a:shade val="100000"/>
                <a:satMod val="115000"/>
              </a:srgbClr>
            </a:gs>
          </a:gsLst>
          <a:lin ang="2700000" scaled="1"/>
          <a:tileRect/>
        </a:gradFill>
      </dgm:spPr>
      <dgm:t>
        <a:bodyPr/>
        <a:lstStyle/>
        <a:p>
          <a:r>
            <a:rPr lang="en-US" sz="1000" b="1" dirty="0" err="1"/>
            <a:t>CustodianFixed</a:t>
          </a:r>
          <a:r>
            <a:rPr lang="en-US" sz="1000" b="1" dirty="0"/>
            <a:t>: 0x1880A400c94D76F7D8e58D820fFA001AF6b164f5</a:t>
          </a:r>
          <a:endParaRPr lang="en-US" sz="1000" dirty="0"/>
        </a:p>
      </dgm:t>
    </dgm:pt>
    <dgm:pt modelId="{C28148C3-68D7-40D1-BE92-62A1380CC30F}" type="parTrans" cxnId="{B197B25A-75CB-420A-B83E-08D9FC280637}">
      <dgm:prSet/>
      <dgm:spPr/>
      <dgm:t>
        <a:bodyPr/>
        <a:lstStyle/>
        <a:p>
          <a:endParaRPr lang="en-US" sz="1000"/>
        </a:p>
      </dgm:t>
    </dgm:pt>
    <dgm:pt modelId="{A4284B37-C028-40CB-A2BE-D6244ECA3E85}" type="sibTrans" cxnId="{B197B25A-75CB-420A-B83E-08D9FC280637}">
      <dgm:prSet/>
      <dgm:spPr/>
      <dgm:t>
        <a:bodyPr/>
        <a:lstStyle/>
        <a:p>
          <a:endParaRPr lang="en-US" sz="1000"/>
        </a:p>
      </dgm:t>
    </dgm:pt>
    <dgm:pt modelId="{331981DC-EB0A-4064-8A4F-DA808344C96B}">
      <dgm:prSet custT="1"/>
      <dgm:spPr>
        <a:gradFill flip="none" rotWithShape="0">
          <a:gsLst>
            <a:gs pos="0">
              <a:schemeClr val="accent6">
                <a:shade val="30000"/>
                <a:satMod val="115000"/>
              </a:schemeClr>
            </a:gs>
            <a:gs pos="50000">
              <a:schemeClr val="accent6">
                <a:shade val="67500"/>
                <a:satMod val="115000"/>
              </a:schemeClr>
            </a:gs>
            <a:gs pos="100000">
              <a:schemeClr val="accent6"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sz="1000" b="1" dirty="0" err="1"/>
            <a:t>LinearDecrease</a:t>
          </a:r>
          <a:r>
            <a:rPr lang="en-US" sz="1000" b="1" dirty="0"/>
            <a:t>: 0x16801eE061d76426C9C66008d03a7a7a7da19293</a:t>
          </a:r>
          <a:endParaRPr lang="en-US" sz="1000" dirty="0"/>
        </a:p>
      </dgm:t>
    </dgm:pt>
    <dgm:pt modelId="{E2A1BA71-1F23-4DC5-B43F-095D2D6E0A1F}" type="parTrans" cxnId="{5CD888B3-618E-4482-B205-780B9FD8A7BB}">
      <dgm:prSet/>
      <dgm:spPr/>
      <dgm:t>
        <a:bodyPr/>
        <a:lstStyle/>
        <a:p>
          <a:endParaRPr lang="en-US" sz="1000"/>
        </a:p>
      </dgm:t>
    </dgm:pt>
    <dgm:pt modelId="{80D7E808-8AE7-4754-9B65-BD17DF682040}" type="sibTrans" cxnId="{5CD888B3-618E-4482-B205-780B9FD8A7BB}">
      <dgm:prSet/>
      <dgm:spPr/>
      <dgm:t>
        <a:bodyPr/>
        <a:lstStyle/>
        <a:p>
          <a:endParaRPr lang="en-US" sz="1000"/>
        </a:p>
      </dgm:t>
    </dgm:pt>
    <dgm:pt modelId="{7DC78873-AB7E-471B-B381-5C083FCB18FA}">
      <dgm:prSet custT="1"/>
      <dgm:spPr>
        <a:gradFill flip="none" rotWithShape="0">
          <a:gsLst>
            <a:gs pos="0">
              <a:schemeClr val="accent6">
                <a:shade val="30000"/>
                <a:satMod val="115000"/>
              </a:schemeClr>
            </a:gs>
            <a:gs pos="50000">
              <a:schemeClr val="accent6">
                <a:shade val="67500"/>
                <a:satMod val="115000"/>
              </a:schemeClr>
            </a:gs>
            <a:gs pos="100000">
              <a:schemeClr val="accent6"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sz="1000" b="1" dirty="0" err="1"/>
            <a:t>AuctionManager</a:t>
          </a:r>
          <a:r>
            <a:rPr lang="en-US" sz="1000" b="1" dirty="0"/>
            <a:t>: 0x349D94834f4ac7221670866a3F6881aDd01e72c2</a:t>
          </a:r>
          <a:endParaRPr lang="en-US" sz="1000" dirty="0"/>
        </a:p>
      </dgm:t>
    </dgm:pt>
    <dgm:pt modelId="{4B0D92AB-07C0-4CFE-8AE8-669BDD957606}" type="parTrans" cxnId="{B59059F6-50D9-491A-ABDB-1001B9392F0E}">
      <dgm:prSet/>
      <dgm:spPr/>
      <dgm:t>
        <a:bodyPr/>
        <a:lstStyle/>
        <a:p>
          <a:endParaRPr lang="en-US" sz="1000"/>
        </a:p>
      </dgm:t>
    </dgm:pt>
    <dgm:pt modelId="{F3394F49-AE0E-489B-B5FB-7C4F895F0531}" type="sibTrans" cxnId="{B59059F6-50D9-491A-ABDB-1001B9392F0E}">
      <dgm:prSet/>
      <dgm:spPr/>
      <dgm:t>
        <a:bodyPr/>
        <a:lstStyle/>
        <a:p>
          <a:endParaRPr lang="en-US" sz="1000"/>
        </a:p>
      </dgm:t>
    </dgm:pt>
    <dgm:pt modelId="{4D90D6F9-4A9D-4501-AFB8-CF3767BBDC3A}">
      <dgm:prSet custT="1"/>
      <dgm:spPr>
        <a:gradFill flip="none" rotWithShape="0">
          <a:gsLst>
            <a:gs pos="0">
              <a:schemeClr val="accent6">
                <a:shade val="30000"/>
                <a:satMod val="115000"/>
              </a:schemeClr>
            </a:gs>
            <a:gs pos="50000">
              <a:schemeClr val="accent6">
                <a:shade val="67500"/>
                <a:satMod val="115000"/>
              </a:schemeClr>
            </a:gs>
            <a:gs pos="100000">
              <a:schemeClr val="accent6"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sz="1000" b="1" dirty="0" err="1"/>
            <a:t>LiquidationManager</a:t>
          </a:r>
          <a:r>
            <a:rPr lang="en-US" sz="1000" b="1" dirty="0"/>
            <a:t>: 0x4650B86Af767bdF6DE7Bde10AA59d4bEec591ac2</a:t>
          </a:r>
          <a:endParaRPr lang="en-US" sz="1000" dirty="0"/>
        </a:p>
      </dgm:t>
    </dgm:pt>
    <dgm:pt modelId="{E7CA95DC-0895-4394-9B41-64FBFED2930A}" type="parTrans" cxnId="{BEF0B694-2D79-4F9E-9D0D-4815E716BBE1}">
      <dgm:prSet/>
      <dgm:spPr/>
      <dgm:t>
        <a:bodyPr/>
        <a:lstStyle/>
        <a:p>
          <a:endParaRPr lang="en-US" sz="1000"/>
        </a:p>
      </dgm:t>
    </dgm:pt>
    <dgm:pt modelId="{C71753F1-A13D-45DD-99F8-21AB5D13C928}" type="sibTrans" cxnId="{BEF0B694-2D79-4F9E-9D0D-4815E716BBE1}">
      <dgm:prSet/>
      <dgm:spPr/>
      <dgm:t>
        <a:bodyPr/>
        <a:lstStyle/>
        <a:p>
          <a:endParaRPr lang="en-US" sz="1000"/>
        </a:p>
      </dgm:t>
    </dgm:pt>
    <dgm:pt modelId="{D436A306-D8B3-4745-9EA5-130C3B54ACFC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000" b="1" dirty="0" err="1"/>
            <a:t>AMMLiquidity</a:t>
          </a:r>
          <a:r>
            <a:rPr lang="en-US" sz="1000" b="1" dirty="0"/>
            <a:t>: 0x209De0Db2A3Ebd8Ef7677B68235cC9d842226f05</a:t>
          </a:r>
          <a:endParaRPr lang="en-US" sz="1000" dirty="0"/>
        </a:p>
      </dgm:t>
    </dgm:pt>
    <dgm:pt modelId="{C2DCF7D6-CFBD-40B6-9168-E6B78BEE93D5}" type="parTrans" cxnId="{710CBF92-4EBD-4D82-B3CE-E0F3EF4DC312}">
      <dgm:prSet/>
      <dgm:spPr/>
      <dgm:t>
        <a:bodyPr/>
        <a:lstStyle/>
        <a:p>
          <a:endParaRPr lang="en-US" sz="1000"/>
        </a:p>
      </dgm:t>
    </dgm:pt>
    <dgm:pt modelId="{4B8A25B7-AAE8-406B-808D-22ADF7DDE06B}" type="sibTrans" cxnId="{710CBF92-4EBD-4D82-B3CE-E0F3EF4DC312}">
      <dgm:prSet/>
      <dgm:spPr/>
      <dgm:t>
        <a:bodyPr/>
        <a:lstStyle/>
        <a:p>
          <a:endParaRPr lang="en-US" sz="1000"/>
        </a:p>
      </dgm:t>
    </dgm:pt>
    <dgm:pt modelId="{7A31F9A7-3086-45C7-A52D-CCD2F2DFE9AB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sz="1000" b="1" dirty="0" err="1"/>
            <a:t>AMMSwap</a:t>
          </a:r>
          <a:r>
            <a:rPr lang="en-US" sz="1000" b="1" dirty="0"/>
            <a:t>: 0xc17123147eAaC7B20d4F94Cec856228222E87D72</a:t>
          </a:r>
          <a:endParaRPr lang="en-US" sz="1000" dirty="0"/>
        </a:p>
      </dgm:t>
    </dgm:pt>
    <dgm:pt modelId="{FB5A6715-2769-496F-A81E-AA4C6CADADB7}" type="parTrans" cxnId="{F0EBD66A-B852-437F-9CDD-F0627ECC7702}">
      <dgm:prSet/>
      <dgm:spPr/>
      <dgm:t>
        <a:bodyPr/>
        <a:lstStyle/>
        <a:p>
          <a:endParaRPr lang="en-US" sz="1000"/>
        </a:p>
      </dgm:t>
    </dgm:pt>
    <dgm:pt modelId="{C00E9C50-35F1-40A3-939E-9BAD5627F3FC}" type="sibTrans" cxnId="{F0EBD66A-B852-437F-9CDD-F0627ECC7702}">
      <dgm:prSet/>
      <dgm:spPr/>
      <dgm:t>
        <a:bodyPr/>
        <a:lstStyle/>
        <a:p>
          <a:endParaRPr lang="en-US" sz="1000"/>
        </a:p>
      </dgm:t>
    </dgm:pt>
    <dgm:pt modelId="{471A97F6-0213-4948-928A-9496CEAD05BA}">
      <dgm:prSet custT="1"/>
      <dgm:spPr>
        <a:gradFill flip="none" rotWithShape="0">
          <a:gsLst>
            <a:gs pos="0">
              <a:schemeClr val="accent1">
                <a:lumMod val="75000"/>
                <a:shade val="30000"/>
                <a:satMod val="115000"/>
              </a:schemeClr>
            </a:gs>
            <a:gs pos="50000">
              <a:schemeClr val="accent1">
                <a:lumMod val="75000"/>
                <a:shade val="67500"/>
                <a:satMod val="115000"/>
              </a:schemeClr>
            </a:gs>
            <a:gs pos="100000">
              <a:schemeClr val="accent1">
                <a:lumMod val="75000"/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sz="1000" b="1" dirty="0"/>
            <a:t>Pool: 0xCa250B562Beb3Be4fC75e79826390F9f14c622d0</a:t>
          </a:r>
          <a:endParaRPr lang="en-US" sz="1000" dirty="0"/>
        </a:p>
      </dgm:t>
    </dgm:pt>
    <dgm:pt modelId="{19387B74-C4DA-49AD-B6F4-E3BDC4988D81}" type="parTrans" cxnId="{35090387-B7ED-4962-84D4-E18A0DECDFA9}">
      <dgm:prSet/>
      <dgm:spPr/>
      <dgm:t>
        <a:bodyPr/>
        <a:lstStyle/>
        <a:p>
          <a:endParaRPr lang="en-US" sz="1000"/>
        </a:p>
      </dgm:t>
    </dgm:pt>
    <dgm:pt modelId="{EB62CE37-AD06-4489-97C5-C1B7AAD505AA}" type="sibTrans" cxnId="{35090387-B7ED-4962-84D4-E18A0DECDFA9}">
      <dgm:prSet/>
      <dgm:spPr/>
      <dgm:t>
        <a:bodyPr/>
        <a:lstStyle/>
        <a:p>
          <a:endParaRPr lang="en-US" sz="1000"/>
        </a:p>
      </dgm:t>
    </dgm:pt>
    <dgm:pt modelId="{C8B67AEC-0F3F-475F-BA75-D847B268E238}">
      <dgm:prSet custT="1"/>
      <dgm:spPr>
        <a:gradFill flip="none" rotWithShape="0">
          <a:gsLst>
            <a:gs pos="0">
              <a:schemeClr val="accent1">
                <a:lumMod val="75000"/>
                <a:shade val="30000"/>
                <a:satMod val="115000"/>
              </a:schemeClr>
            </a:gs>
            <a:gs pos="50000">
              <a:schemeClr val="accent1">
                <a:lumMod val="75000"/>
                <a:shade val="67500"/>
                <a:satMod val="115000"/>
              </a:schemeClr>
            </a:gs>
            <a:gs pos="100000">
              <a:schemeClr val="accent1">
                <a:lumMod val="75000"/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sz="1000" b="1" dirty="0"/>
            <a:t>Router: 0x3A9D48AB9751398BbFa63ad67599Bb04e4BdF98b</a:t>
          </a:r>
          <a:endParaRPr lang="en-US" sz="1000" dirty="0"/>
        </a:p>
      </dgm:t>
    </dgm:pt>
    <dgm:pt modelId="{6E8BF62F-9C64-4ACF-8D7D-6F7CCF8B3F10}" type="parTrans" cxnId="{472563F8-AAAF-4458-A1A7-F1007072F15D}">
      <dgm:prSet/>
      <dgm:spPr/>
      <dgm:t>
        <a:bodyPr/>
        <a:lstStyle/>
        <a:p>
          <a:endParaRPr lang="en-US" sz="1000"/>
        </a:p>
      </dgm:t>
    </dgm:pt>
    <dgm:pt modelId="{0021513B-0FCD-4CF6-997E-C082D5669CF1}" type="sibTrans" cxnId="{472563F8-AAAF-4458-A1A7-F1007072F15D}">
      <dgm:prSet/>
      <dgm:spPr/>
      <dgm:t>
        <a:bodyPr/>
        <a:lstStyle/>
        <a:p>
          <a:endParaRPr lang="en-US" sz="1000"/>
        </a:p>
      </dgm:t>
    </dgm:pt>
    <dgm:pt modelId="{51B79A02-C644-4B75-A740-75F929031734}">
      <dgm:prSet custT="1"/>
      <dgm:spPr>
        <a:gradFill flip="none" rotWithShape="0">
          <a:gsLst>
            <a:gs pos="0">
              <a:schemeClr val="accent1">
                <a:lumMod val="75000"/>
                <a:shade val="30000"/>
                <a:satMod val="115000"/>
              </a:schemeClr>
            </a:gs>
            <a:gs pos="50000">
              <a:schemeClr val="accent1">
                <a:lumMod val="75000"/>
                <a:shade val="67500"/>
                <a:satMod val="115000"/>
              </a:schemeClr>
            </a:gs>
            <a:gs pos="100000">
              <a:schemeClr val="accent1">
                <a:lumMod val="75000"/>
                <a:shade val="100000"/>
                <a:satMod val="115000"/>
              </a:schemeClr>
            </a:gs>
          </a:gsLst>
          <a:lin ang="2700000" scaled="1"/>
          <a:tileRect/>
        </a:gradFill>
      </dgm:spPr>
      <dgm:t>
        <a:bodyPr/>
        <a:lstStyle/>
        <a:p>
          <a:r>
            <a:rPr lang="en-US" sz="1000" b="1"/>
            <a:t>Quoter:  0xEd1f6473345F45b75F8179591dd5bA1888cf2FB3</a:t>
          </a:r>
          <a:endParaRPr lang="en-US" sz="1000"/>
        </a:p>
      </dgm:t>
    </dgm:pt>
    <dgm:pt modelId="{0204A8B4-BA15-4795-AD5D-60834542B266}" type="parTrans" cxnId="{27D4E9CB-7B7A-4EA6-8E72-AE46AD4158ED}">
      <dgm:prSet/>
      <dgm:spPr/>
      <dgm:t>
        <a:bodyPr/>
        <a:lstStyle/>
        <a:p>
          <a:endParaRPr lang="en-US" sz="1000"/>
        </a:p>
      </dgm:t>
    </dgm:pt>
    <dgm:pt modelId="{8E08C1A1-1EE5-4795-AD38-BDFEABE22459}" type="sibTrans" cxnId="{27D4E9CB-7B7A-4EA6-8E72-AE46AD4158ED}">
      <dgm:prSet/>
      <dgm:spPr/>
      <dgm:t>
        <a:bodyPr/>
        <a:lstStyle/>
        <a:p>
          <a:endParaRPr lang="en-US" sz="1000"/>
        </a:p>
      </dgm:t>
    </dgm:pt>
    <dgm:pt modelId="{4875C33D-BA72-4BF8-BB3F-20718FE1C9DB}" type="pres">
      <dgm:prSet presAssocID="{A74E9F1D-2163-4516-8121-DCD772281D21}" presName="diagram" presStyleCnt="0">
        <dgm:presLayoutVars>
          <dgm:dir/>
          <dgm:resizeHandles val="exact"/>
        </dgm:presLayoutVars>
      </dgm:prSet>
      <dgm:spPr/>
    </dgm:pt>
    <dgm:pt modelId="{B37487E4-9E71-4E48-86CB-0D4D2E1E9D6C}" type="pres">
      <dgm:prSet presAssocID="{7C1EC91D-E6D7-4EE9-918B-59DB29A09A52}" presName="node" presStyleLbl="node1" presStyleIdx="0" presStyleCnt="15">
        <dgm:presLayoutVars>
          <dgm:bulletEnabled val="1"/>
        </dgm:presLayoutVars>
      </dgm:prSet>
      <dgm:spPr/>
    </dgm:pt>
    <dgm:pt modelId="{C012A170-E31F-44BA-8E7E-84132FECAFF1}" type="pres">
      <dgm:prSet presAssocID="{96FE6F44-72CA-4450-A1C9-E817BE770157}" presName="sibTrans" presStyleCnt="0"/>
      <dgm:spPr/>
    </dgm:pt>
    <dgm:pt modelId="{221700F3-05C8-4379-9A6E-2D736D8DA279}" type="pres">
      <dgm:prSet presAssocID="{8F09895C-90EA-475B-9446-A566DC3ABD29}" presName="node" presStyleLbl="node1" presStyleIdx="1" presStyleCnt="15">
        <dgm:presLayoutVars>
          <dgm:bulletEnabled val="1"/>
        </dgm:presLayoutVars>
      </dgm:prSet>
      <dgm:spPr/>
    </dgm:pt>
    <dgm:pt modelId="{81C77D4F-383B-460A-BC1B-7A1D1938F5E8}" type="pres">
      <dgm:prSet presAssocID="{6A1FF943-2F22-429E-B0D5-6301FDDD9478}" presName="sibTrans" presStyleCnt="0"/>
      <dgm:spPr/>
    </dgm:pt>
    <dgm:pt modelId="{DB92EC56-7476-4A5D-B29C-9F35E7267D5F}" type="pres">
      <dgm:prSet presAssocID="{013092CE-4959-49A1-9E2A-B5F4CCB22AB2}" presName="node" presStyleLbl="node1" presStyleIdx="2" presStyleCnt="15">
        <dgm:presLayoutVars>
          <dgm:bulletEnabled val="1"/>
        </dgm:presLayoutVars>
      </dgm:prSet>
      <dgm:spPr/>
    </dgm:pt>
    <dgm:pt modelId="{F564415F-F1CA-46D9-829D-12CC32FC0E6D}" type="pres">
      <dgm:prSet presAssocID="{7F979A8A-7DCE-431A-80BE-97DF94F9BB30}" presName="sibTrans" presStyleCnt="0"/>
      <dgm:spPr/>
    </dgm:pt>
    <dgm:pt modelId="{BC764F91-9117-45DC-9ECD-F5F96782F4D8}" type="pres">
      <dgm:prSet presAssocID="{C2D65083-0117-4A35-9544-19FA99BDB0BD}" presName="node" presStyleLbl="node1" presStyleIdx="3" presStyleCnt="15">
        <dgm:presLayoutVars>
          <dgm:bulletEnabled val="1"/>
        </dgm:presLayoutVars>
      </dgm:prSet>
      <dgm:spPr/>
    </dgm:pt>
    <dgm:pt modelId="{680C469D-3158-40D9-BA7A-E42FDCE10CD5}" type="pres">
      <dgm:prSet presAssocID="{4B5DFCDE-EFB4-47BD-9B5D-C9192B42BFBD}" presName="sibTrans" presStyleCnt="0"/>
      <dgm:spPr/>
    </dgm:pt>
    <dgm:pt modelId="{C0C6098D-8586-467B-B79C-A1784A6E3BD6}" type="pres">
      <dgm:prSet presAssocID="{E1ED2335-FDDB-4153-8816-D4B1D7687202}" presName="node" presStyleLbl="node1" presStyleIdx="4" presStyleCnt="15">
        <dgm:presLayoutVars>
          <dgm:bulletEnabled val="1"/>
        </dgm:presLayoutVars>
      </dgm:prSet>
      <dgm:spPr/>
    </dgm:pt>
    <dgm:pt modelId="{F0A24A0D-7B2D-4437-9483-B17E2532F4A0}" type="pres">
      <dgm:prSet presAssocID="{AC2965A3-51F0-45DE-9113-AA0BFC7A78F9}" presName="sibTrans" presStyleCnt="0"/>
      <dgm:spPr/>
    </dgm:pt>
    <dgm:pt modelId="{4B951CC6-E36C-4E43-AF51-ABC459390AE9}" type="pres">
      <dgm:prSet presAssocID="{41E68B89-FEB9-46EA-9186-8DB3936EA2EC}" presName="node" presStyleLbl="node1" presStyleIdx="5" presStyleCnt="15">
        <dgm:presLayoutVars>
          <dgm:bulletEnabled val="1"/>
        </dgm:presLayoutVars>
      </dgm:prSet>
      <dgm:spPr/>
    </dgm:pt>
    <dgm:pt modelId="{174D004E-2518-4023-B516-C313BB446809}" type="pres">
      <dgm:prSet presAssocID="{FD9C1C77-3C3B-4E59-94C1-E0F8941F8834}" presName="sibTrans" presStyleCnt="0"/>
      <dgm:spPr/>
    </dgm:pt>
    <dgm:pt modelId="{161C3888-3609-4E40-B176-4DB0FD1D2615}" type="pres">
      <dgm:prSet presAssocID="{0C5E1157-189E-449C-87CB-542F7B03640D}" presName="node" presStyleLbl="node1" presStyleIdx="6" presStyleCnt="15">
        <dgm:presLayoutVars>
          <dgm:bulletEnabled val="1"/>
        </dgm:presLayoutVars>
      </dgm:prSet>
      <dgm:spPr/>
    </dgm:pt>
    <dgm:pt modelId="{45F3D209-2236-4980-885E-FB04DAD49287}" type="pres">
      <dgm:prSet presAssocID="{A4284B37-C028-40CB-A2BE-D6244ECA3E85}" presName="sibTrans" presStyleCnt="0"/>
      <dgm:spPr/>
    </dgm:pt>
    <dgm:pt modelId="{7AA71F17-8E27-4409-9B91-9F7447676802}" type="pres">
      <dgm:prSet presAssocID="{331981DC-EB0A-4064-8A4F-DA808344C96B}" presName="node" presStyleLbl="node1" presStyleIdx="7" presStyleCnt="15">
        <dgm:presLayoutVars>
          <dgm:bulletEnabled val="1"/>
        </dgm:presLayoutVars>
      </dgm:prSet>
      <dgm:spPr/>
    </dgm:pt>
    <dgm:pt modelId="{A933BFAE-BAB2-4C32-A803-7B5296284AE4}" type="pres">
      <dgm:prSet presAssocID="{80D7E808-8AE7-4754-9B65-BD17DF682040}" presName="sibTrans" presStyleCnt="0"/>
      <dgm:spPr/>
    </dgm:pt>
    <dgm:pt modelId="{1DE1C6B0-15C8-455A-95D9-B6EE0B4FE56F}" type="pres">
      <dgm:prSet presAssocID="{7DC78873-AB7E-471B-B381-5C083FCB18FA}" presName="node" presStyleLbl="node1" presStyleIdx="8" presStyleCnt="15">
        <dgm:presLayoutVars>
          <dgm:bulletEnabled val="1"/>
        </dgm:presLayoutVars>
      </dgm:prSet>
      <dgm:spPr/>
    </dgm:pt>
    <dgm:pt modelId="{AA03796B-E9BE-4EAA-B403-9467610732B6}" type="pres">
      <dgm:prSet presAssocID="{F3394F49-AE0E-489B-B5FB-7C4F895F0531}" presName="sibTrans" presStyleCnt="0"/>
      <dgm:spPr/>
    </dgm:pt>
    <dgm:pt modelId="{3499A121-CE66-4586-89F2-D9AE1C3B1EEA}" type="pres">
      <dgm:prSet presAssocID="{4D90D6F9-4A9D-4501-AFB8-CF3767BBDC3A}" presName="node" presStyleLbl="node1" presStyleIdx="9" presStyleCnt="15">
        <dgm:presLayoutVars>
          <dgm:bulletEnabled val="1"/>
        </dgm:presLayoutVars>
      </dgm:prSet>
      <dgm:spPr/>
    </dgm:pt>
    <dgm:pt modelId="{F5195048-3D1E-4FC7-A458-E91A36F33ED4}" type="pres">
      <dgm:prSet presAssocID="{C71753F1-A13D-45DD-99F8-21AB5D13C928}" presName="sibTrans" presStyleCnt="0"/>
      <dgm:spPr/>
    </dgm:pt>
    <dgm:pt modelId="{06D0828C-7083-4F73-BB29-CA19749CAF89}" type="pres">
      <dgm:prSet presAssocID="{D436A306-D8B3-4745-9EA5-130C3B54ACFC}" presName="node" presStyleLbl="node1" presStyleIdx="10" presStyleCnt="15">
        <dgm:presLayoutVars>
          <dgm:bulletEnabled val="1"/>
        </dgm:presLayoutVars>
      </dgm:prSet>
      <dgm:spPr/>
    </dgm:pt>
    <dgm:pt modelId="{DAD7CFF0-C468-4E4E-82B4-36D62C50430A}" type="pres">
      <dgm:prSet presAssocID="{4B8A25B7-AAE8-406B-808D-22ADF7DDE06B}" presName="sibTrans" presStyleCnt="0"/>
      <dgm:spPr/>
    </dgm:pt>
    <dgm:pt modelId="{EBBF74F6-FFB6-4CB3-850C-87A79464CEEF}" type="pres">
      <dgm:prSet presAssocID="{7A31F9A7-3086-45C7-A52D-CCD2F2DFE9AB}" presName="node" presStyleLbl="node1" presStyleIdx="11" presStyleCnt="15">
        <dgm:presLayoutVars>
          <dgm:bulletEnabled val="1"/>
        </dgm:presLayoutVars>
      </dgm:prSet>
      <dgm:spPr/>
    </dgm:pt>
    <dgm:pt modelId="{D041B179-0DE3-4472-9907-2CEB1077F47D}" type="pres">
      <dgm:prSet presAssocID="{C00E9C50-35F1-40A3-939E-9BAD5627F3FC}" presName="sibTrans" presStyleCnt="0"/>
      <dgm:spPr/>
    </dgm:pt>
    <dgm:pt modelId="{186F7F1D-B26D-4D54-BD29-E68EAAF58A8D}" type="pres">
      <dgm:prSet presAssocID="{471A97F6-0213-4948-928A-9496CEAD05BA}" presName="node" presStyleLbl="node1" presStyleIdx="12" presStyleCnt="15">
        <dgm:presLayoutVars>
          <dgm:bulletEnabled val="1"/>
        </dgm:presLayoutVars>
      </dgm:prSet>
      <dgm:spPr/>
    </dgm:pt>
    <dgm:pt modelId="{C4E487BF-4735-4574-AC32-F4399CD8254C}" type="pres">
      <dgm:prSet presAssocID="{EB62CE37-AD06-4489-97C5-C1B7AAD505AA}" presName="sibTrans" presStyleCnt="0"/>
      <dgm:spPr/>
    </dgm:pt>
    <dgm:pt modelId="{030F0647-96E0-4FF7-9C1E-5981681A230C}" type="pres">
      <dgm:prSet presAssocID="{C8B67AEC-0F3F-475F-BA75-D847B268E238}" presName="node" presStyleLbl="node1" presStyleIdx="13" presStyleCnt="15">
        <dgm:presLayoutVars>
          <dgm:bulletEnabled val="1"/>
        </dgm:presLayoutVars>
      </dgm:prSet>
      <dgm:spPr/>
    </dgm:pt>
    <dgm:pt modelId="{DFA1290F-945C-4D72-87C7-C683256D976E}" type="pres">
      <dgm:prSet presAssocID="{0021513B-0FCD-4CF6-997E-C082D5669CF1}" presName="sibTrans" presStyleCnt="0"/>
      <dgm:spPr/>
    </dgm:pt>
    <dgm:pt modelId="{D5F30044-6040-4AC4-904B-7654970CA669}" type="pres">
      <dgm:prSet presAssocID="{51B79A02-C644-4B75-A740-75F929031734}" presName="node" presStyleLbl="node1" presStyleIdx="14" presStyleCnt="15">
        <dgm:presLayoutVars>
          <dgm:bulletEnabled val="1"/>
        </dgm:presLayoutVars>
      </dgm:prSet>
      <dgm:spPr/>
    </dgm:pt>
  </dgm:ptLst>
  <dgm:cxnLst>
    <dgm:cxn modelId="{E246C501-B970-481D-AE5D-EE442D88FCC5}" srcId="{A74E9F1D-2163-4516-8121-DCD772281D21}" destId="{C2D65083-0117-4A35-9544-19FA99BDB0BD}" srcOrd="3" destOrd="0" parTransId="{C4D0F353-142B-46C8-9C30-8A966A8D1D07}" sibTransId="{4B5DFCDE-EFB4-47BD-9B5D-C9192B42BFBD}"/>
    <dgm:cxn modelId="{E5A2D107-A90A-4538-8916-8DFC2D605A2F}" type="presOf" srcId="{41E68B89-FEB9-46EA-9186-8DB3936EA2EC}" destId="{4B951CC6-E36C-4E43-AF51-ABC459390AE9}" srcOrd="0" destOrd="0" presId="urn:microsoft.com/office/officeart/2005/8/layout/default"/>
    <dgm:cxn modelId="{EFBBCB0A-968F-4D2A-8ACE-D79BBF58C08E}" srcId="{A74E9F1D-2163-4516-8121-DCD772281D21}" destId="{E1ED2335-FDDB-4153-8816-D4B1D7687202}" srcOrd="4" destOrd="0" parTransId="{E174D5AE-DE9C-42B6-BC60-20971A76B70F}" sibTransId="{AC2965A3-51F0-45DE-9113-AA0BFC7A78F9}"/>
    <dgm:cxn modelId="{6224BB19-4D58-44A2-B8EB-C4119F00828C}" type="presOf" srcId="{D436A306-D8B3-4745-9EA5-130C3B54ACFC}" destId="{06D0828C-7083-4F73-BB29-CA19749CAF89}" srcOrd="0" destOrd="0" presId="urn:microsoft.com/office/officeart/2005/8/layout/default"/>
    <dgm:cxn modelId="{AA307E1C-F3C0-4BF0-9277-4531C64F16C5}" type="presOf" srcId="{471A97F6-0213-4948-928A-9496CEAD05BA}" destId="{186F7F1D-B26D-4D54-BD29-E68EAAF58A8D}" srcOrd="0" destOrd="0" presId="urn:microsoft.com/office/officeart/2005/8/layout/default"/>
    <dgm:cxn modelId="{937A1E28-BF23-4AA2-A9E7-405A9B5A3CCD}" type="presOf" srcId="{013092CE-4959-49A1-9E2A-B5F4CCB22AB2}" destId="{DB92EC56-7476-4A5D-B29C-9F35E7267D5F}" srcOrd="0" destOrd="0" presId="urn:microsoft.com/office/officeart/2005/8/layout/default"/>
    <dgm:cxn modelId="{461F9047-2AB6-4F0C-8487-1ED3D4CD9E8B}" type="presOf" srcId="{0C5E1157-189E-449C-87CB-542F7B03640D}" destId="{161C3888-3609-4E40-B176-4DB0FD1D2615}" srcOrd="0" destOrd="0" presId="urn:microsoft.com/office/officeart/2005/8/layout/default"/>
    <dgm:cxn modelId="{F0EBD66A-B852-437F-9CDD-F0627ECC7702}" srcId="{A74E9F1D-2163-4516-8121-DCD772281D21}" destId="{7A31F9A7-3086-45C7-A52D-CCD2F2DFE9AB}" srcOrd="11" destOrd="0" parTransId="{FB5A6715-2769-496F-A81E-AA4C6CADADB7}" sibTransId="{C00E9C50-35F1-40A3-939E-9BAD5627F3FC}"/>
    <dgm:cxn modelId="{E1C84D4C-D170-4D48-AE00-99CA4980DF37}" type="presOf" srcId="{C2D65083-0117-4A35-9544-19FA99BDB0BD}" destId="{BC764F91-9117-45DC-9ECD-F5F96782F4D8}" srcOrd="0" destOrd="0" presId="urn:microsoft.com/office/officeart/2005/8/layout/default"/>
    <dgm:cxn modelId="{7828BD4F-E988-40E3-B8E4-3EE29B98E602}" type="presOf" srcId="{A74E9F1D-2163-4516-8121-DCD772281D21}" destId="{4875C33D-BA72-4BF8-BB3F-20718FE1C9DB}" srcOrd="0" destOrd="0" presId="urn:microsoft.com/office/officeart/2005/8/layout/default"/>
    <dgm:cxn modelId="{1C207452-F8E0-4E2D-926E-382DD5A43B9A}" type="presOf" srcId="{331981DC-EB0A-4064-8A4F-DA808344C96B}" destId="{7AA71F17-8E27-4409-9B91-9F7447676802}" srcOrd="0" destOrd="0" presId="urn:microsoft.com/office/officeart/2005/8/layout/default"/>
    <dgm:cxn modelId="{954E8354-7854-4CD2-BAE7-15C2E0F9BEB2}" type="presOf" srcId="{8F09895C-90EA-475B-9446-A566DC3ABD29}" destId="{221700F3-05C8-4379-9A6E-2D736D8DA279}" srcOrd="0" destOrd="0" presId="urn:microsoft.com/office/officeart/2005/8/layout/default"/>
    <dgm:cxn modelId="{D4517555-4BA1-4096-9D42-1FBE138ADAED}" type="presOf" srcId="{7C1EC91D-E6D7-4EE9-918B-59DB29A09A52}" destId="{B37487E4-9E71-4E48-86CB-0D4D2E1E9D6C}" srcOrd="0" destOrd="0" presId="urn:microsoft.com/office/officeart/2005/8/layout/default"/>
    <dgm:cxn modelId="{E49D6556-003C-4621-B143-5D27D3FE7EF3}" type="presOf" srcId="{7A31F9A7-3086-45C7-A52D-CCD2F2DFE9AB}" destId="{EBBF74F6-FFB6-4CB3-850C-87A79464CEEF}" srcOrd="0" destOrd="0" presId="urn:microsoft.com/office/officeart/2005/8/layout/default"/>
    <dgm:cxn modelId="{E7363079-4E37-4E0E-9B09-D14FE0D049B3}" type="presOf" srcId="{C8B67AEC-0F3F-475F-BA75-D847B268E238}" destId="{030F0647-96E0-4FF7-9C1E-5981681A230C}" srcOrd="0" destOrd="0" presId="urn:microsoft.com/office/officeart/2005/8/layout/default"/>
    <dgm:cxn modelId="{2F786259-88A2-4448-98B7-B8570D9470F7}" type="presOf" srcId="{E1ED2335-FDDB-4153-8816-D4B1D7687202}" destId="{C0C6098D-8586-467B-B79C-A1784A6E3BD6}" srcOrd="0" destOrd="0" presId="urn:microsoft.com/office/officeart/2005/8/layout/default"/>
    <dgm:cxn modelId="{B197B25A-75CB-420A-B83E-08D9FC280637}" srcId="{A74E9F1D-2163-4516-8121-DCD772281D21}" destId="{0C5E1157-189E-449C-87CB-542F7B03640D}" srcOrd="6" destOrd="0" parTransId="{C28148C3-68D7-40D1-BE92-62A1380CC30F}" sibTransId="{A4284B37-C028-40CB-A2BE-D6244ECA3E85}"/>
    <dgm:cxn modelId="{35090387-B7ED-4962-84D4-E18A0DECDFA9}" srcId="{A74E9F1D-2163-4516-8121-DCD772281D21}" destId="{471A97F6-0213-4948-928A-9496CEAD05BA}" srcOrd="12" destOrd="0" parTransId="{19387B74-C4DA-49AD-B6F4-E3BDC4988D81}" sibTransId="{EB62CE37-AD06-4489-97C5-C1B7AAD505AA}"/>
    <dgm:cxn modelId="{F46D2C8E-F5ED-4356-8C0B-0668B9A17132}" srcId="{A74E9F1D-2163-4516-8121-DCD772281D21}" destId="{7C1EC91D-E6D7-4EE9-918B-59DB29A09A52}" srcOrd="0" destOrd="0" parTransId="{8FCB0CA2-06FC-439E-BB8F-18A117BE7995}" sibTransId="{96FE6F44-72CA-4450-A1C9-E817BE770157}"/>
    <dgm:cxn modelId="{15EA7E90-5BDB-492F-9189-F74801414E18}" srcId="{A74E9F1D-2163-4516-8121-DCD772281D21}" destId="{8F09895C-90EA-475B-9446-A566DC3ABD29}" srcOrd="1" destOrd="0" parTransId="{CB16B77D-7C60-4D94-95B7-872465B5674E}" sibTransId="{6A1FF943-2F22-429E-B0D5-6301FDDD9478}"/>
    <dgm:cxn modelId="{710CBF92-4EBD-4D82-B3CE-E0F3EF4DC312}" srcId="{A74E9F1D-2163-4516-8121-DCD772281D21}" destId="{D436A306-D8B3-4745-9EA5-130C3B54ACFC}" srcOrd="10" destOrd="0" parTransId="{C2DCF7D6-CFBD-40B6-9168-E6B78BEE93D5}" sibTransId="{4B8A25B7-AAE8-406B-808D-22ADF7DDE06B}"/>
    <dgm:cxn modelId="{BEF0B694-2D79-4F9E-9D0D-4815E716BBE1}" srcId="{A74E9F1D-2163-4516-8121-DCD772281D21}" destId="{4D90D6F9-4A9D-4501-AFB8-CF3767BBDC3A}" srcOrd="9" destOrd="0" parTransId="{E7CA95DC-0895-4394-9B41-64FBFED2930A}" sibTransId="{C71753F1-A13D-45DD-99F8-21AB5D13C928}"/>
    <dgm:cxn modelId="{D6D5A899-46AA-4CD0-A512-938D313AA7CC}" srcId="{A74E9F1D-2163-4516-8121-DCD772281D21}" destId="{013092CE-4959-49A1-9E2A-B5F4CCB22AB2}" srcOrd="2" destOrd="0" parTransId="{104F06CB-719E-4176-BD5B-586E51CA5FFA}" sibTransId="{7F979A8A-7DCE-431A-80BE-97DF94F9BB30}"/>
    <dgm:cxn modelId="{5CD888B3-618E-4482-B205-780B9FD8A7BB}" srcId="{A74E9F1D-2163-4516-8121-DCD772281D21}" destId="{331981DC-EB0A-4064-8A4F-DA808344C96B}" srcOrd="7" destOrd="0" parTransId="{E2A1BA71-1F23-4DC5-B43F-095D2D6E0A1F}" sibTransId="{80D7E808-8AE7-4754-9B65-BD17DF682040}"/>
    <dgm:cxn modelId="{263291BA-7908-43A4-8B0E-15A724D30C1A}" srcId="{A74E9F1D-2163-4516-8121-DCD772281D21}" destId="{41E68B89-FEB9-46EA-9186-8DB3936EA2EC}" srcOrd="5" destOrd="0" parTransId="{5AB9DE9C-F465-4D16-8E27-74E31DAC8463}" sibTransId="{FD9C1C77-3C3B-4E59-94C1-E0F8941F8834}"/>
    <dgm:cxn modelId="{40D310CA-8442-464D-B165-9E20EC6AA597}" type="presOf" srcId="{7DC78873-AB7E-471B-B381-5C083FCB18FA}" destId="{1DE1C6B0-15C8-455A-95D9-B6EE0B4FE56F}" srcOrd="0" destOrd="0" presId="urn:microsoft.com/office/officeart/2005/8/layout/default"/>
    <dgm:cxn modelId="{27D4E9CB-7B7A-4EA6-8E72-AE46AD4158ED}" srcId="{A74E9F1D-2163-4516-8121-DCD772281D21}" destId="{51B79A02-C644-4B75-A740-75F929031734}" srcOrd="14" destOrd="0" parTransId="{0204A8B4-BA15-4795-AD5D-60834542B266}" sibTransId="{8E08C1A1-1EE5-4795-AD38-BDFEABE22459}"/>
    <dgm:cxn modelId="{F352D9D2-1F3F-4C02-8F5C-8E03EECD9DB6}" type="presOf" srcId="{4D90D6F9-4A9D-4501-AFB8-CF3767BBDC3A}" destId="{3499A121-CE66-4586-89F2-D9AE1C3B1EEA}" srcOrd="0" destOrd="0" presId="urn:microsoft.com/office/officeart/2005/8/layout/default"/>
    <dgm:cxn modelId="{066341E0-C896-40C4-AD15-9CC35FEC7895}" type="presOf" srcId="{51B79A02-C644-4B75-A740-75F929031734}" destId="{D5F30044-6040-4AC4-904B-7654970CA669}" srcOrd="0" destOrd="0" presId="urn:microsoft.com/office/officeart/2005/8/layout/default"/>
    <dgm:cxn modelId="{B59059F6-50D9-491A-ABDB-1001B9392F0E}" srcId="{A74E9F1D-2163-4516-8121-DCD772281D21}" destId="{7DC78873-AB7E-471B-B381-5C083FCB18FA}" srcOrd="8" destOrd="0" parTransId="{4B0D92AB-07C0-4CFE-8AE8-669BDD957606}" sibTransId="{F3394F49-AE0E-489B-B5FB-7C4F895F0531}"/>
    <dgm:cxn modelId="{472563F8-AAAF-4458-A1A7-F1007072F15D}" srcId="{A74E9F1D-2163-4516-8121-DCD772281D21}" destId="{C8B67AEC-0F3F-475F-BA75-D847B268E238}" srcOrd="13" destOrd="0" parTransId="{6E8BF62F-9C64-4ACF-8D7D-6F7CCF8B3F10}" sibTransId="{0021513B-0FCD-4CF6-997E-C082D5669CF1}"/>
    <dgm:cxn modelId="{C2C33C0A-FF72-4333-BF3D-8E86C54CD0BF}" type="presParOf" srcId="{4875C33D-BA72-4BF8-BB3F-20718FE1C9DB}" destId="{B37487E4-9E71-4E48-86CB-0D4D2E1E9D6C}" srcOrd="0" destOrd="0" presId="urn:microsoft.com/office/officeart/2005/8/layout/default"/>
    <dgm:cxn modelId="{F54EA880-0D0A-4910-92F8-01A03F417C4E}" type="presParOf" srcId="{4875C33D-BA72-4BF8-BB3F-20718FE1C9DB}" destId="{C012A170-E31F-44BA-8E7E-84132FECAFF1}" srcOrd="1" destOrd="0" presId="urn:microsoft.com/office/officeart/2005/8/layout/default"/>
    <dgm:cxn modelId="{A0B94B98-2ED2-45F6-9718-C031BBAC9640}" type="presParOf" srcId="{4875C33D-BA72-4BF8-BB3F-20718FE1C9DB}" destId="{221700F3-05C8-4379-9A6E-2D736D8DA279}" srcOrd="2" destOrd="0" presId="urn:microsoft.com/office/officeart/2005/8/layout/default"/>
    <dgm:cxn modelId="{5A6DD835-8A64-4707-AA8D-2A03EA9EA0B0}" type="presParOf" srcId="{4875C33D-BA72-4BF8-BB3F-20718FE1C9DB}" destId="{81C77D4F-383B-460A-BC1B-7A1D1938F5E8}" srcOrd="3" destOrd="0" presId="urn:microsoft.com/office/officeart/2005/8/layout/default"/>
    <dgm:cxn modelId="{3B9ECE03-494F-4579-9869-F5D5EC01C6C7}" type="presParOf" srcId="{4875C33D-BA72-4BF8-BB3F-20718FE1C9DB}" destId="{DB92EC56-7476-4A5D-B29C-9F35E7267D5F}" srcOrd="4" destOrd="0" presId="urn:microsoft.com/office/officeart/2005/8/layout/default"/>
    <dgm:cxn modelId="{91A3E6FD-7DBE-499D-804B-19D6A444A04D}" type="presParOf" srcId="{4875C33D-BA72-4BF8-BB3F-20718FE1C9DB}" destId="{F564415F-F1CA-46D9-829D-12CC32FC0E6D}" srcOrd="5" destOrd="0" presId="urn:microsoft.com/office/officeart/2005/8/layout/default"/>
    <dgm:cxn modelId="{370B55B4-E751-4B27-B8A8-ECF6CD8235B5}" type="presParOf" srcId="{4875C33D-BA72-4BF8-BB3F-20718FE1C9DB}" destId="{BC764F91-9117-45DC-9ECD-F5F96782F4D8}" srcOrd="6" destOrd="0" presId="urn:microsoft.com/office/officeart/2005/8/layout/default"/>
    <dgm:cxn modelId="{1816CBE7-CFF9-4E06-A000-4D640A443C22}" type="presParOf" srcId="{4875C33D-BA72-4BF8-BB3F-20718FE1C9DB}" destId="{680C469D-3158-40D9-BA7A-E42FDCE10CD5}" srcOrd="7" destOrd="0" presId="urn:microsoft.com/office/officeart/2005/8/layout/default"/>
    <dgm:cxn modelId="{1C248A0E-559B-4326-B598-E6134C04D7DD}" type="presParOf" srcId="{4875C33D-BA72-4BF8-BB3F-20718FE1C9DB}" destId="{C0C6098D-8586-467B-B79C-A1784A6E3BD6}" srcOrd="8" destOrd="0" presId="urn:microsoft.com/office/officeart/2005/8/layout/default"/>
    <dgm:cxn modelId="{3CD6C79B-C747-4B1C-87CC-147868DD4E2E}" type="presParOf" srcId="{4875C33D-BA72-4BF8-BB3F-20718FE1C9DB}" destId="{F0A24A0D-7B2D-4437-9483-B17E2532F4A0}" srcOrd="9" destOrd="0" presId="urn:microsoft.com/office/officeart/2005/8/layout/default"/>
    <dgm:cxn modelId="{FA12683E-07E4-4B2B-B1FD-5C43E3ECB86E}" type="presParOf" srcId="{4875C33D-BA72-4BF8-BB3F-20718FE1C9DB}" destId="{4B951CC6-E36C-4E43-AF51-ABC459390AE9}" srcOrd="10" destOrd="0" presId="urn:microsoft.com/office/officeart/2005/8/layout/default"/>
    <dgm:cxn modelId="{507DACAB-1221-4EF4-91D2-90777B3ADD47}" type="presParOf" srcId="{4875C33D-BA72-4BF8-BB3F-20718FE1C9DB}" destId="{174D004E-2518-4023-B516-C313BB446809}" srcOrd="11" destOrd="0" presId="urn:microsoft.com/office/officeart/2005/8/layout/default"/>
    <dgm:cxn modelId="{3528C6E4-5B42-4A4D-8647-189CADA72B39}" type="presParOf" srcId="{4875C33D-BA72-4BF8-BB3F-20718FE1C9DB}" destId="{161C3888-3609-4E40-B176-4DB0FD1D2615}" srcOrd="12" destOrd="0" presId="urn:microsoft.com/office/officeart/2005/8/layout/default"/>
    <dgm:cxn modelId="{F6663757-1528-4FA5-875B-07052F75EB00}" type="presParOf" srcId="{4875C33D-BA72-4BF8-BB3F-20718FE1C9DB}" destId="{45F3D209-2236-4980-885E-FB04DAD49287}" srcOrd="13" destOrd="0" presId="urn:microsoft.com/office/officeart/2005/8/layout/default"/>
    <dgm:cxn modelId="{4BCC64A5-BCD8-4579-8E35-3BC42192FB21}" type="presParOf" srcId="{4875C33D-BA72-4BF8-BB3F-20718FE1C9DB}" destId="{7AA71F17-8E27-4409-9B91-9F7447676802}" srcOrd="14" destOrd="0" presId="urn:microsoft.com/office/officeart/2005/8/layout/default"/>
    <dgm:cxn modelId="{F11DFBD3-4F11-4484-B83C-37E8C8646AE5}" type="presParOf" srcId="{4875C33D-BA72-4BF8-BB3F-20718FE1C9DB}" destId="{A933BFAE-BAB2-4C32-A803-7B5296284AE4}" srcOrd="15" destOrd="0" presId="urn:microsoft.com/office/officeart/2005/8/layout/default"/>
    <dgm:cxn modelId="{E0B0BA61-42BB-41D9-A0F6-2438113342E8}" type="presParOf" srcId="{4875C33D-BA72-4BF8-BB3F-20718FE1C9DB}" destId="{1DE1C6B0-15C8-455A-95D9-B6EE0B4FE56F}" srcOrd="16" destOrd="0" presId="urn:microsoft.com/office/officeart/2005/8/layout/default"/>
    <dgm:cxn modelId="{2391BD25-93FA-4A1C-A83C-26B5CC8D3D0A}" type="presParOf" srcId="{4875C33D-BA72-4BF8-BB3F-20718FE1C9DB}" destId="{AA03796B-E9BE-4EAA-B403-9467610732B6}" srcOrd="17" destOrd="0" presId="urn:microsoft.com/office/officeart/2005/8/layout/default"/>
    <dgm:cxn modelId="{6AD2EDC7-2BB0-4734-A3E3-FB609706F269}" type="presParOf" srcId="{4875C33D-BA72-4BF8-BB3F-20718FE1C9DB}" destId="{3499A121-CE66-4586-89F2-D9AE1C3B1EEA}" srcOrd="18" destOrd="0" presId="urn:microsoft.com/office/officeart/2005/8/layout/default"/>
    <dgm:cxn modelId="{7A01084D-6A75-4021-BC34-9C73F2B7C05D}" type="presParOf" srcId="{4875C33D-BA72-4BF8-BB3F-20718FE1C9DB}" destId="{F5195048-3D1E-4FC7-A458-E91A36F33ED4}" srcOrd="19" destOrd="0" presId="urn:microsoft.com/office/officeart/2005/8/layout/default"/>
    <dgm:cxn modelId="{25D68F07-09B9-4CD3-BEA9-C736C2F7E86F}" type="presParOf" srcId="{4875C33D-BA72-4BF8-BB3F-20718FE1C9DB}" destId="{06D0828C-7083-4F73-BB29-CA19749CAF89}" srcOrd="20" destOrd="0" presId="urn:microsoft.com/office/officeart/2005/8/layout/default"/>
    <dgm:cxn modelId="{29D55790-5B01-45DC-B9B3-7BB14537D75A}" type="presParOf" srcId="{4875C33D-BA72-4BF8-BB3F-20718FE1C9DB}" destId="{DAD7CFF0-C468-4E4E-82B4-36D62C50430A}" srcOrd="21" destOrd="0" presId="urn:microsoft.com/office/officeart/2005/8/layout/default"/>
    <dgm:cxn modelId="{E6A74767-4D9E-43EF-8A9C-D75C52810A9F}" type="presParOf" srcId="{4875C33D-BA72-4BF8-BB3F-20718FE1C9DB}" destId="{EBBF74F6-FFB6-4CB3-850C-87A79464CEEF}" srcOrd="22" destOrd="0" presId="urn:microsoft.com/office/officeart/2005/8/layout/default"/>
    <dgm:cxn modelId="{7019A253-57CA-4ACE-B15E-617DEE24ADA9}" type="presParOf" srcId="{4875C33D-BA72-4BF8-BB3F-20718FE1C9DB}" destId="{D041B179-0DE3-4472-9907-2CEB1077F47D}" srcOrd="23" destOrd="0" presId="urn:microsoft.com/office/officeart/2005/8/layout/default"/>
    <dgm:cxn modelId="{E751F8DC-3845-4187-B45D-390F20023A82}" type="presParOf" srcId="{4875C33D-BA72-4BF8-BB3F-20718FE1C9DB}" destId="{186F7F1D-B26D-4D54-BD29-E68EAAF58A8D}" srcOrd="24" destOrd="0" presId="urn:microsoft.com/office/officeart/2005/8/layout/default"/>
    <dgm:cxn modelId="{DF810BA6-8D64-4396-9CBC-BB83984D3AAE}" type="presParOf" srcId="{4875C33D-BA72-4BF8-BB3F-20718FE1C9DB}" destId="{C4E487BF-4735-4574-AC32-F4399CD8254C}" srcOrd="25" destOrd="0" presId="urn:microsoft.com/office/officeart/2005/8/layout/default"/>
    <dgm:cxn modelId="{E784C375-AB5A-4863-8B6D-4CD7803D19C5}" type="presParOf" srcId="{4875C33D-BA72-4BF8-BB3F-20718FE1C9DB}" destId="{030F0647-96E0-4FF7-9C1E-5981681A230C}" srcOrd="26" destOrd="0" presId="urn:microsoft.com/office/officeart/2005/8/layout/default"/>
    <dgm:cxn modelId="{50C680EA-33EC-4D0F-9895-800385A66938}" type="presParOf" srcId="{4875C33D-BA72-4BF8-BB3F-20718FE1C9DB}" destId="{DFA1290F-945C-4D72-87C7-C683256D976E}" srcOrd="27" destOrd="0" presId="urn:microsoft.com/office/officeart/2005/8/layout/default"/>
    <dgm:cxn modelId="{5B76DC25-47C2-4E2C-8CA8-0DD689F45702}" type="presParOf" srcId="{4875C33D-BA72-4BF8-BB3F-20718FE1C9DB}" destId="{D5F30044-6040-4AC4-904B-7654970CA669}" srcOrd="2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7487E4-9E71-4E48-86CB-0D4D2E1E9D6C}">
      <dsp:nvSpPr>
        <dsp:cNvPr id="0" name=""/>
        <dsp:cNvSpPr/>
      </dsp:nvSpPr>
      <dsp:spPr>
        <a:xfrm>
          <a:off x="496560" y="1378"/>
          <a:ext cx="1882190" cy="1129314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WLTCMock</a:t>
          </a:r>
          <a:r>
            <a:rPr lang="en-US" sz="1000" b="1" kern="1200" dirty="0"/>
            <a:t>: 0x75B8CDe44E33135E6A08a59A23fC1e244A762501</a:t>
          </a:r>
          <a:endParaRPr lang="en-US" sz="1000" kern="1200" dirty="0"/>
        </a:p>
      </dsp:txBody>
      <dsp:txXfrm>
        <a:off x="496560" y="1378"/>
        <a:ext cx="1882190" cy="1129314"/>
      </dsp:txXfrm>
    </dsp:sp>
    <dsp:sp modelId="{221700F3-05C8-4379-9A6E-2D736D8DA279}">
      <dsp:nvSpPr>
        <dsp:cNvPr id="0" name=""/>
        <dsp:cNvSpPr/>
      </dsp:nvSpPr>
      <dsp:spPr>
        <a:xfrm>
          <a:off x="2566970" y="1378"/>
          <a:ext cx="1882190" cy="1129314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285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USDCMock</a:t>
          </a:r>
          <a:r>
            <a:rPr lang="en-US" sz="1000" b="1" kern="1200" dirty="0"/>
            <a:t>: 0x790fB0d2b3EDd1962A58d8F6095F3508c017E742</a:t>
          </a:r>
          <a:endParaRPr lang="en-US" sz="1000" kern="1200" dirty="0"/>
        </a:p>
      </dsp:txBody>
      <dsp:txXfrm>
        <a:off x="2566970" y="1378"/>
        <a:ext cx="1882190" cy="1129314"/>
      </dsp:txXfrm>
    </dsp:sp>
    <dsp:sp modelId="{DB92EC56-7476-4A5D-B29C-9F35E7267D5F}">
      <dsp:nvSpPr>
        <dsp:cNvPr id="0" name=""/>
        <dsp:cNvSpPr/>
      </dsp:nvSpPr>
      <dsp:spPr>
        <a:xfrm>
          <a:off x="4637379" y="1378"/>
          <a:ext cx="1882190" cy="1129314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5714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StableToken</a:t>
          </a:r>
          <a:r>
            <a:rPr lang="en-US" sz="1000" b="1" kern="1200" dirty="0"/>
            <a:t>: 0x827835DE6D96B30255B26d90C93aaed2900decd4</a:t>
          </a:r>
          <a:endParaRPr lang="en-US" sz="1000" kern="1200" dirty="0"/>
        </a:p>
      </dsp:txBody>
      <dsp:txXfrm>
        <a:off x="4637379" y="1378"/>
        <a:ext cx="1882190" cy="1129314"/>
      </dsp:txXfrm>
    </dsp:sp>
    <dsp:sp modelId="{BC764F91-9117-45DC-9ECD-F5F96782F4D8}">
      <dsp:nvSpPr>
        <dsp:cNvPr id="0" name=""/>
        <dsp:cNvSpPr/>
      </dsp:nvSpPr>
      <dsp:spPr>
        <a:xfrm>
          <a:off x="6707789" y="1378"/>
          <a:ext cx="1882190" cy="1129314"/>
        </a:xfrm>
        <a:prstGeom prst="rect">
          <a:avLst/>
        </a:prstGeom>
        <a:solidFill>
          <a:schemeClr val="accent4">
            <a:alpha val="90000"/>
            <a:hueOff val="0"/>
            <a:satOff val="0"/>
            <a:lumOff val="0"/>
            <a:alphaOff val="-8571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MultiLeverageToken</a:t>
          </a:r>
          <a:r>
            <a:rPr lang="en-US" sz="1000" b="1" kern="1200" dirty="0"/>
            <a:t>: 0xe2d4343fc854862f0792b807c9e897935B039E02</a:t>
          </a:r>
          <a:endParaRPr lang="en-US" sz="1000" kern="1200" dirty="0"/>
        </a:p>
      </dsp:txBody>
      <dsp:txXfrm>
        <a:off x="6707789" y="1378"/>
        <a:ext cx="1882190" cy="1129314"/>
      </dsp:txXfrm>
    </dsp:sp>
    <dsp:sp modelId="{C0C6098D-8586-467B-B79C-A1784A6E3BD6}">
      <dsp:nvSpPr>
        <dsp:cNvPr id="0" name=""/>
        <dsp:cNvSpPr/>
      </dsp:nvSpPr>
      <dsp:spPr>
        <a:xfrm>
          <a:off x="8778198" y="1378"/>
          <a:ext cx="1882190" cy="1129314"/>
        </a:xfrm>
        <a:prstGeom prst="rect">
          <a:avLst/>
        </a:prstGeom>
        <a:gradFill flip="none" rotWithShape="0">
          <a:gsLst>
            <a:gs pos="0">
              <a:srgbClr val="C00000">
                <a:shade val="30000"/>
                <a:satMod val="115000"/>
              </a:srgbClr>
            </a:gs>
            <a:gs pos="50000">
              <a:srgbClr val="C00000">
                <a:shade val="67500"/>
                <a:satMod val="115000"/>
              </a:srgbClr>
            </a:gs>
            <a:gs pos="100000">
              <a:srgbClr val="C00000">
                <a:shade val="100000"/>
                <a:satMod val="115000"/>
              </a:srgbClr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InterestManager</a:t>
          </a:r>
          <a:r>
            <a:rPr lang="en-US" sz="1000" b="1" kern="1200" dirty="0"/>
            <a:t>: 0x838c8860f721494B88Bb0C60Aad08C5e135a6a9e</a:t>
          </a:r>
          <a:endParaRPr lang="en-US" sz="1000" kern="1200" dirty="0"/>
        </a:p>
      </dsp:txBody>
      <dsp:txXfrm>
        <a:off x="8778198" y="1378"/>
        <a:ext cx="1882190" cy="1129314"/>
      </dsp:txXfrm>
    </dsp:sp>
    <dsp:sp modelId="{4B951CC6-E36C-4E43-AF51-ABC459390AE9}">
      <dsp:nvSpPr>
        <dsp:cNvPr id="0" name=""/>
        <dsp:cNvSpPr/>
      </dsp:nvSpPr>
      <dsp:spPr>
        <a:xfrm>
          <a:off x="496560" y="1318911"/>
          <a:ext cx="1882190" cy="1129314"/>
        </a:xfrm>
        <a:prstGeom prst="rect">
          <a:avLst/>
        </a:prstGeom>
        <a:gradFill flip="none" rotWithShape="0">
          <a:gsLst>
            <a:gs pos="0">
              <a:srgbClr val="C00000">
                <a:shade val="30000"/>
                <a:satMod val="115000"/>
              </a:srgbClr>
            </a:gs>
            <a:gs pos="50000">
              <a:srgbClr val="C00000">
                <a:shade val="67500"/>
                <a:satMod val="115000"/>
              </a:srgbClr>
            </a:gs>
            <a:gs pos="100000">
              <a:srgbClr val="C00000">
                <a:shade val="100000"/>
                <a:satMod val="115000"/>
              </a:srgbClr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LTCPriceOracle</a:t>
          </a:r>
          <a:r>
            <a:rPr lang="en-US" sz="1000" b="1" kern="1200" dirty="0"/>
            <a:t>: 0x54D0121C209c0bF550e5600aA98DffBB2aEd77F7</a:t>
          </a:r>
          <a:endParaRPr lang="en-US" sz="1000" kern="1200" dirty="0"/>
        </a:p>
      </dsp:txBody>
      <dsp:txXfrm>
        <a:off x="496560" y="1318911"/>
        <a:ext cx="1882190" cy="1129314"/>
      </dsp:txXfrm>
    </dsp:sp>
    <dsp:sp modelId="{161C3888-3609-4E40-B176-4DB0FD1D2615}">
      <dsp:nvSpPr>
        <dsp:cNvPr id="0" name=""/>
        <dsp:cNvSpPr/>
      </dsp:nvSpPr>
      <dsp:spPr>
        <a:xfrm>
          <a:off x="2566970" y="1318911"/>
          <a:ext cx="1882190" cy="1129314"/>
        </a:xfrm>
        <a:prstGeom prst="rect">
          <a:avLst/>
        </a:prstGeom>
        <a:gradFill flip="none" rotWithShape="0">
          <a:gsLst>
            <a:gs pos="0">
              <a:srgbClr val="C00000">
                <a:shade val="30000"/>
                <a:satMod val="115000"/>
              </a:srgbClr>
            </a:gs>
            <a:gs pos="50000">
              <a:srgbClr val="C00000">
                <a:shade val="67500"/>
                <a:satMod val="115000"/>
              </a:srgbClr>
            </a:gs>
            <a:gs pos="100000">
              <a:srgbClr val="C00000">
                <a:shade val="100000"/>
                <a:satMod val="115000"/>
              </a:srgbClr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CustodianFixed</a:t>
          </a:r>
          <a:r>
            <a:rPr lang="en-US" sz="1000" b="1" kern="1200" dirty="0"/>
            <a:t>: 0x1880A400c94D76F7D8e58D820fFA001AF6b164f5</a:t>
          </a:r>
          <a:endParaRPr lang="en-US" sz="1000" kern="1200" dirty="0"/>
        </a:p>
      </dsp:txBody>
      <dsp:txXfrm>
        <a:off x="2566970" y="1318911"/>
        <a:ext cx="1882190" cy="1129314"/>
      </dsp:txXfrm>
    </dsp:sp>
    <dsp:sp modelId="{7AA71F17-8E27-4409-9B91-9F7447676802}">
      <dsp:nvSpPr>
        <dsp:cNvPr id="0" name=""/>
        <dsp:cNvSpPr/>
      </dsp:nvSpPr>
      <dsp:spPr>
        <a:xfrm>
          <a:off x="4637379" y="1318911"/>
          <a:ext cx="1882190" cy="1129314"/>
        </a:xfrm>
        <a:prstGeom prst="rect">
          <a:avLst/>
        </a:prstGeom>
        <a:gradFill flip="none" rotWithShape="0">
          <a:gsLst>
            <a:gs pos="0">
              <a:schemeClr val="accent6">
                <a:shade val="30000"/>
                <a:satMod val="115000"/>
              </a:schemeClr>
            </a:gs>
            <a:gs pos="50000">
              <a:schemeClr val="accent6">
                <a:shade val="67500"/>
                <a:satMod val="115000"/>
              </a:schemeClr>
            </a:gs>
            <a:gs pos="100000">
              <a:schemeClr val="accent6">
                <a:shade val="100000"/>
                <a:satMod val="115000"/>
              </a:schemeClr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LinearDecrease</a:t>
          </a:r>
          <a:r>
            <a:rPr lang="en-US" sz="1000" b="1" kern="1200" dirty="0"/>
            <a:t>: 0x16801eE061d76426C9C66008d03a7a7a7da19293</a:t>
          </a:r>
          <a:endParaRPr lang="en-US" sz="1000" kern="1200" dirty="0"/>
        </a:p>
      </dsp:txBody>
      <dsp:txXfrm>
        <a:off x="4637379" y="1318911"/>
        <a:ext cx="1882190" cy="1129314"/>
      </dsp:txXfrm>
    </dsp:sp>
    <dsp:sp modelId="{1DE1C6B0-15C8-455A-95D9-B6EE0B4FE56F}">
      <dsp:nvSpPr>
        <dsp:cNvPr id="0" name=""/>
        <dsp:cNvSpPr/>
      </dsp:nvSpPr>
      <dsp:spPr>
        <a:xfrm>
          <a:off x="6707789" y="1318911"/>
          <a:ext cx="1882190" cy="1129314"/>
        </a:xfrm>
        <a:prstGeom prst="rect">
          <a:avLst/>
        </a:prstGeom>
        <a:gradFill flip="none" rotWithShape="0">
          <a:gsLst>
            <a:gs pos="0">
              <a:schemeClr val="accent6">
                <a:shade val="30000"/>
                <a:satMod val="115000"/>
              </a:schemeClr>
            </a:gs>
            <a:gs pos="50000">
              <a:schemeClr val="accent6">
                <a:shade val="67500"/>
                <a:satMod val="115000"/>
              </a:schemeClr>
            </a:gs>
            <a:gs pos="100000">
              <a:schemeClr val="accent6">
                <a:shade val="100000"/>
                <a:satMod val="115000"/>
              </a:schemeClr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AuctionManager</a:t>
          </a:r>
          <a:r>
            <a:rPr lang="en-US" sz="1000" b="1" kern="1200" dirty="0"/>
            <a:t>: 0x349D94834f4ac7221670866a3F6881aDd01e72c2</a:t>
          </a:r>
          <a:endParaRPr lang="en-US" sz="1000" kern="1200" dirty="0"/>
        </a:p>
      </dsp:txBody>
      <dsp:txXfrm>
        <a:off x="6707789" y="1318911"/>
        <a:ext cx="1882190" cy="1129314"/>
      </dsp:txXfrm>
    </dsp:sp>
    <dsp:sp modelId="{3499A121-CE66-4586-89F2-D9AE1C3B1EEA}">
      <dsp:nvSpPr>
        <dsp:cNvPr id="0" name=""/>
        <dsp:cNvSpPr/>
      </dsp:nvSpPr>
      <dsp:spPr>
        <a:xfrm>
          <a:off x="8778198" y="1318911"/>
          <a:ext cx="1882190" cy="1129314"/>
        </a:xfrm>
        <a:prstGeom prst="rect">
          <a:avLst/>
        </a:prstGeom>
        <a:gradFill flip="none" rotWithShape="0">
          <a:gsLst>
            <a:gs pos="0">
              <a:schemeClr val="accent6">
                <a:shade val="30000"/>
                <a:satMod val="115000"/>
              </a:schemeClr>
            </a:gs>
            <a:gs pos="50000">
              <a:schemeClr val="accent6">
                <a:shade val="67500"/>
                <a:satMod val="115000"/>
              </a:schemeClr>
            </a:gs>
            <a:gs pos="100000">
              <a:schemeClr val="accent6">
                <a:shade val="100000"/>
                <a:satMod val="115000"/>
              </a:schemeClr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LiquidationManager</a:t>
          </a:r>
          <a:r>
            <a:rPr lang="en-US" sz="1000" b="1" kern="1200" dirty="0"/>
            <a:t>: 0x4650B86Af767bdF6DE7Bde10AA59d4bEec591ac2</a:t>
          </a:r>
          <a:endParaRPr lang="en-US" sz="1000" kern="1200" dirty="0"/>
        </a:p>
      </dsp:txBody>
      <dsp:txXfrm>
        <a:off x="8778198" y="1318911"/>
        <a:ext cx="1882190" cy="1129314"/>
      </dsp:txXfrm>
    </dsp:sp>
    <dsp:sp modelId="{06D0828C-7083-4F73-BB29-CA19749CAF89}">
      <dsp:nvSpPr>
        <dsp:cNvPr id="0" name=""/>
        <dsp:cNvSpPr/>
      </dsp:nvSpPr>
      <dsp:spPr>
        <a:xfrm>
          <a:off x="496560" y="2636445"/>
          <a:ext cx="1882190" cy="1129314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AMMLiquidity</a:t>
          </a:r>
          <a:r>
            <a:rPr lang="en-US" sz="1000" b="1" kern="1200" dirty="0"/>
            <a:t>: 0x209De0Db2A3Ebd8Ef7677B68235cC9d842226f05</a:t>
          </a:r>
          <a:endParaRPr lang="en-US" sz="1000" kern="1200" dirty="0"/>
        </a:p>
      </dsp:txBody>
      <dsp:txXfrm>
        <a:off x="496560" y="2636445"/>
        <a:ext cx="1882190" cy="1129314"/>
      </dsp:txXfrm>
    </dsp:sp>
    <dsp:sp modelId="{EBBF74F6-FFB6-4CB3-850C-87A79464CEEF}">
      <dsp:nvSpPr>
        <dsp:cNvPr id="0" name=""/>
        <dsp:cNvSpPr/>
      </dsp:nvSpPr>
      <dsp:spPr>
        <a:xfrm>
          <a:off x="2566970" y="2636445"/>
          <a:ext cx="1882190" cy="1129314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/>
            <a:t>AMMSwap</a:t>
          </a:r>
          <a:r>
            <a:rPr lang="en-US" sz="1000" b="1" kern="1200" dirty="0"/>
            <a:t>: 0xc17123147eAaC7B20d4F94Cec856228222E87D72</a:t>
          </a:r>
          <a:endParaRPr lang="en-US" sz="1000" kern="1200" dirty="0"/>
        </a:p>
      </dsp:txBody>
      <dsp:txXfrm>
        <a:off x="2566970" y="2636445"/>
        <a:ext cx="1882190" cy="1129314"/>
      </dsp:txXfrm>
    </dsp:sp>
    <dsp:sp modelId="{186F7F1D-B26D-4D54-BD29-E68EAAF58A8D}">
      <dsp:nvSpPr>
        <dsp:cNvPr id="0" name=""/>
        <dsp:cNvSpPr/>
      </dsp:nvSpPr>
      <dsp:spPr>
        <a:xfrm>
          <a:off x="4637379" y="2636445"/>
          <a:ext cx="1882190" cy="1129314"/>
        </a:xfrm>
        <a:prstGeom prst="rect">
          <a:avLst/>
        </a:prstGeom>
        <a:gradFill flip="none" rotWithShape="0">
          <a:gsLst>
            <a:gs pos="0">
              <a:schemeClr val="accent1">
                <a:lumMod val="75000"/>
                <a:shade val="30000"/>
                <a:satMod val="115000"/>
              </a:schemeClr>
            </a:gs>
            <a:gs pos="50000">
              <a:schemeClr val="accent1">
                <a:lumMod val="75000"/>
                <a:shade val="67500"/>
                <a:satMod val="115000"/>
              </a:schemeClr>
            </a:gs>
            <a:gs pos="100000">
              <a:schemeClr val="accent1">
                <a:lumMod val="75000"/>
                <a:shade val="100000"/>
                <a:satMod val="115000"/>
              </a:schemeClr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Pool: 0xCa250B562Beb3Be4fC75e79826390F9f14c622d0</a:t>
          </a:r>
          <a:endParaRPr lang="en-US" sz="1000" kern="1200" dirty="0"/>
        </a:p>
      </dsp:txBody>
      <dsp:txXfrm>
        <a:off x="4637379" y="2636445"/>
        <a:ext cx="1882190" cy="1129314"/>
      </dsp:txXfrm>
    </dsp:sp>
    <dsp:sp modelId="{030F0647-96E0-4FF7-9C1E-5981681A230C}">
      <dsp:nvSpPr>
        <dsp:cNvPr id="0" name=""/>
        <dsp:cNvSpPr/>
      </dsp:nvSpPr>
      <dsp:spPr>
        <a:xfrm>
          <a:off x="6707789" y="2636445"/>
          <a:ext cx="1882190" cy="1129314"/>
        </a:xfrm>
        <a:prstGeom prst="rect">
          <a:avLst/>
        </a:prstGeom>
        <a:gradFill flip="none" rotWithShape="0">
          <a:gsLst>
            <a:gs pos="0">
              <a:schemeClr val="accent1">
                <a:lumMod val="75000"/>
                <a:shade val="30000"/>
                <a:satMod val="115000"/>
              </a:schemeClr>
            </a:gs>
            <a:gs pos="50000">
              <a:schemeClr val="accent1">
                <a:lumMod val="75000"/>
                <a:shade val="67500"/>
                <a:satMod val="115000"/>
              </a:schemeClr>
            </a:gs>
            <a:gs pos="100000">
              <a:schemeClr val="accent1">
                <a:lumMod val="75000"/>
                <a:shade val="100000"/>
                <a:satMod val="115000"/>
              </a:schemeClr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Router: 0x3A9D48AB9751398BbFa63ad67599Bb04e4BdF98b</a:t>
          </a:r>
          <a:endParaRPr lang="en-US" sz="1000" kern="1200" dirty="0"/>
        </a:p>
      </dsp:txBody>
      <dsp:txXfrm>
        <a:off x="6707789" y="2636445"/>
        <a:ext cx="1882190" cy="1129314"/>
      </dsp:txXfrm>
    </dsp:sp>
    <dsp:sp modelId="{D5F30044-6040-4AC4-904B-7654970CA669}">
      <dsp:nvSpPr>
        <dsp:cNvPr id="0" name=""/>
        <dsp:cNvSpPr/>
      </dsp:nvSpPr>
      <dsp:spPr>
        <a:xfrm>
          <a:off x="8778198" y="2636445"/>
          <a:ext cx="1882190" cy="1129314"/>
        </a:xfrm>
        <a:prstGeom prst="rect">
          <a:avLst/>
        </a:prstGeom>
        <a:gradFill flip="none" rotWithShape="0">
          <a:gsLst>
            <a:gs pos="0">
              <a:schemeClr val="accent1">
                <a:lumMod val="75000"/>
                <a:shade val="30000"/>
                <a:satMod val="115000"/>
              </a:schemeClr>
            </a:gs>
            <a:gs pos="50000">
              <a:schemeClr val="accent1">
                <a:lumMod val="75000"/>
                <a:shade val="67500"/>
                <a:satMod val="115000"/>
              </a:schemeClr>
            </a:gs>
            <a:gs pos="100000">
              <a:schemeClr val="accent1">
                <a:lumMod val="75000"/>
                <a:shade val="100000"/>
                <a:satMod val="115000"/>
              </a:schemeClr>
            </a:gs>
          </a:gsLst>
          <a:lin ang="2700000" scaled="1"/>
          <a:tileRect/>
        </a:gra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Quoter:  0xEd1f6473345F45b75F8179591dd5bA1888cf2FB3</a:t>
          </a:r>
          <a:endParaRPr lang="en-US" sz="1000" kern="1200"/>
        </a:p>
      </dsp:txBody>
      <dsp:txXfrm>
        <a:off x="8778198" y="2636445"/>
        <a:ext cx="1882190" cy="1129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89E29-0086-4C15-91AF-169660EB6057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2BA81-5494-461E-B3A5-2563F43E2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631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3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4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84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2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87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16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9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545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8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70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196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ABCF64-D5C3-F093-110A-3B57B098B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670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7508F7DC-CA28-4ACE-AF79-D7E98ED1B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B20218-A500-457C-B65C-F3D198B1F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524" y="0"/>
            <a:ext cx="12188952" cy="3652125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FC9D29A-0C0E-63E1-C548-BEA2C61FF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8686796" cy="233424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olidFill>
                  <a:srgbClr val="FFFFFF"/>
                </a:solidFill>
              </a:rPr>
              <a:t>基于</a:t>
            </a:r>
            <a:r>
              <a:rPr lang="en-US" altLang="zh-CN" dirty="0">
                <a:solidFill>
                  <a:srgbClr val="FFFFFF"/>
                </a:solidFill>
              </a:rPr>
              <a:t>LTC</a:t>
            </a:r>
            <a:r>
              <a:rPr lang="zh-CN" altLang="en-US" dirty="0">
                <a:solidFill>
                  <a:srgbClr val="FFFFFF"/>
                </a:solidFill>
              </a:rPr>
              <a:t>的稳定币</a:t>
            </a:r>
            <a:r>
              <a:rPr lang="en-US" altLang="zh-CN" dirty="0">
                <a:solidFill>
                  <a:srgbClr val="FFFFFF"/>
                </a:solidFill>
              </a:rPr>
              <a:t>S</a:t>
            </a:r>
            <a:r>
              <a:rPr lang="zh-CN" altLang="en-US" dirty="0">
                <a:solidFill>
                  <a:srgbClr val="FFFFFF"/>
                </a:solidFill>
              </a:rPr>
              <a:t>项目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686800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56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AC4FE1-D370-43A6-96C5-076716BB1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12648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F186EFC-7C93-04CF-AFDE-9921A4F8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5376672"/>
          </a:xfrm>
        </p:spPr>
        <p:txBody>
          <a:bodyPr>
            <a:normAutofit/>
          </a:bodyPr>
          <a:lstStyle/>
          <a:p>
            <a:r>
              <a:rPr lang="zh-CN" altLang="en-US" dirty="0"/>
              <a:t>目錄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F53552-3761-3CBD-D4EC-07339EB0F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1042416"/>
            <a:ext cx="5010912" cy="5312664"/>
          </a:xfrm>
        </p:spPr>
        <p:txBody>
          <a:bodyPr>
            <a:normAutofit/>
          </a:bodyPr>
          <a:lstStyle/>
          <a:p>
            <a:r>
              <a:rPr lang="zh-CN" altLang="en-US" dirty="0"/>
              <a:t>項目概述</a:t>
            </a:r>
            <a:endParaRPr lang="en-US" altLang="zh-CN" dirty="0"/>
          </a:p>
          <a:p>
            <a:r>
              <a:rPr lang="zh-CN" altLang="en-US" dirty="0"/>
              <a:t>穩定幣模型</a:t>
            </a:r>
            <a:endParaRPr lang="en-US" altLang="zh-CN" dirty="0"/>
          </a:p>
          <a:p>
            <a:r>
              <a:rPr lang="zh-CN" altLang="en-US" dirty="0"/>
              <a:t>合約關係圖</a:t>
            </a:r>
            <a:endParaRPr lang="en-US" altLang="zh-CN" dirty="0"/>
          </a:p>
          <a:p>
            <a:r>
              <a:rPr lang="zh-CN" altLang="en-US" dirty="0"/>
              <a:t>具體模塊</a:t>
            </a:r>
            <a:endParaRPr lang="en-US" altLang="zh-CN" dirty="0"/>
          </a:p>
          <a:p>
            <a:pPr lvl="1"/>
            <a:r>
              <a:rPr lang="zh-CN" altLang="en-US" dirty="0"/>
              <a:t>交易模塊</a:t>
            </a:r>
            <a:endParaRPr lang="en-US" altLang="zh-CN" dirty="0"/>
          </a:p>
          <a:p>
            <a:pPr lvl="1"/>
            <a:r>
              <a:rPr lang="zh-CN" altLang="en-US" dirty="0"/>
              <a:t>清算模塊</a:t>
            </a:r>
            <a:endParaRPr lang="en-US" altLang="zh-CN" dirty="0"/>
          </a:p>
          <a:p>
            <a:pPr lvl="1"/>
            <a:r>
              <a:rPr lang="zh-CN" altLang="en-US" dirty="0"/>
              <a:t>預言機模塊</a:t>
            </a:r>
            <a:endParaRPr lang="en-US" altLang="zh-CN" dirty="0"/>
          </a:p>
          <a:p>
            <a:pPr lvl="1"/>
            <a:r>
              <a:rPr lang="zh-CN" altLang="en-US" dirty="0"/>
              <a:t>前端</a:t>
            </a:r>
            <a:endParaRPr lang="en-US" altLang="zh-CN" dirty="0"/>
          </a:p>
          <a:p>
            <a:r>
              <a:rPr lang="zh-CN" altLang="en-US" dirty="0"/>
              <a:t>附錄</a:t>
            </a:r>
          </a:p>
        </p:txBody>
      </p:sp>
    </p:spTree>
    <p:extLst>
      <p:ext uri="{BB962C8B-B14F-4D97-AF65-F5344CB8AC3E}">
        <p14:creationId xmlns:p14="http://schemas.microsoft.com/office/powerpoint/2010/main" val="399939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E103155D-1357-8DCA-6A10-CBE8DF523C72}"/>
              </a:ext>
            </a:extLst>
          </p:cNvPr>
          <p:cNvSpPr/>
          <p:nvPr/>
        </p:nvSpPr>
        <p:spPr>
          <a:xfrm>
            <a:off x="4935412" y="3681043"/>
            <a:ext cx="4607169" cy="1863970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BC29DC-9223-DF97-DEF9-3E8A1168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項目概述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BF4186-2D73-585C-C614-640210748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基於分級基金思想實現</a:t>
            </a:r>
            <a:r>
              <a:rPr lang="en-US" altLang="zh-CN" dirty="0"/>
              <a:t>:</a:t>
            </a:r>
            <a:r>
              <a:rPr lang="zh-CN" altLang="en-US" dirty="0">
                <a:solidFill>
                  <a:srgbClr val="C00000"/>
                </a:solidFill>
              </a:rPr>
              <a:t>用户抵押</a:t>
            </a:r>
            <a:r>
              <a:rPr lang="en-US" altLang="zh-CN" dirty="0">
                <a:solidFill>
                  <a:srgbClr val="C00000"/>
                </a:solidFill>
              </a:rPr>
              <a:t>LTC,</a:t>
            </a:r>
            <a:r>
              <a:rPr lang="zh-CN" altLang="en-US" dirty="0">
                <a:solidFill>
                  <a:srgbClr val="C00000"/>
                </a:solidFill>
              </a:rPr>
              <a:t> 發行穩定幣</a:t>
            </a:r>
            <a:r>
              <a:rPr lang="en-US" altLang="zh-CN" dirty="0">
                <a:solidFill>
                  <a:srgbClr val="C00000"/>
                </a:solidFill>
              </a:rPr>
              <a:t>S</a:t>
            </a:r>
            <a:r>
              <a:rPr lang="zh-CN" altLang="en-US" dirty="0">
                <a:solidFill>
                  <a:srgbClr val="C00000"/>
                </a:solidFill>
              </a:rPr>
              <a:t>及杠桿幣</a:t>
            </a:r>
            <a:r>
              <a:rPr lang="en-US" altLang="zh-CN" dirty="0">
                <a:solidFill>
                  <a:srgbClr val="C00000"/>
                </a:solidFill>
              </a:rPr>
              <a:t>L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8A749A-A1AC-24FB-C177-2874D515FE84}"/>
              </a:ext>
            </a:extLst>
          </p:cNvPr>
          <p:cNvSpPr/>
          <p:nvPr/>
        </p:nvSpPr>
        <p:spPr>
          <a:xfrm>
            <a:off x="2332430" y="4402009"/>
            <a:ext cx="1019907" cy="41030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LTC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0DF5CF0-FE20-A1E9-CA2C-DB0600F0A561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3352337" y="4607163"/>
            <a:ext cx="1583075" cy="5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852BC6C-FB09-D07C-1A1A-CF1666C59EE7}"/>
              </a:ext>
            </a:extLst>
          </p:cNvPr>
          <p:cNvSpPr txBox="1"/>
          <p:nvPr/>
        </p:nvSpPr>
        <p:spPr>
          <a:xfrm>
            <a:off x="1990594" y="3998646"/>
            <a:ext cx="18069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>
                <a:solidFill>
                  <a:srgbClr val="7030A0"/>
                </a:solidFill>
              </a:rPr>
              <a:t>測試網絡：以太坊</a:t>
            </a:r>
            <a:r>
              <a:rPr lang="en-US" altLang="zh-CN" sz="1100" dirty="0" err="1">
                <a:solidFill>
                  <a:srgbClr val="7030A0"/>
                </a:solidFill>
              </a:rPr>
              <a:t>Sepolia</a:t>
            </a:r>
            <a:endParaRPr lang="en-US" altLang="zh-CN" sz="1100" dirty="0">
              <a:solidFill>
                <a:srgbClr val="7030A0"/>
              </a:solidFill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E711791-39B2-053E-9186-3033D4124A05}"/>
              </a:ext>
            </a:extLst>
          </p:cNvPr>
          <p:cNvSpPr/>
          <p:nvPr/>
        </p:nvSpPr>
        <p:spPr>
          <a:xfrm>
            <a:off x="5404334" y="4021012"/>
            <a:ext cx="1019907" cy="41030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穩定幣</a:t>
            </a:r>
            <a:r>
              <a:rPr lang="en-US" altLang="zh-CN" sz="1600" dirty="0"/>
              <a:t>S</a:t>
            </a:r>
            <a:endParaRPr lang="zh-CN" altLang="en-US" sz="1600" dirty="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8CE61E7-1FCE-6D1B-087C-C85FD9ACD394}"/>
              </a:ext>
            </a:extLst>
          </p:cNvPr>
          <p:cNvSpPr/>
          <p:nvPr/>
        </p:nvSpPr>
        <p:spPr>
          <a:xfrm>
            <a:off x="5404334" y="4885586"/>
            <a:ext cx="1019907" cy="41030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杠桿幣</a:t>
            </a:r>
            <a:r>
              <a:rPr lang="en-US" altLang="zh-CN" sz="1600" dirty="0"/>
              <a:t>L</a:t>
            </a:r>
            <a:endParaRPr lang="zh-CN" altLang="en-US" sz="1600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B2CECFD9-E0C4-2FEC-2890-78980B673AAB}"/>
              </a:ext>
            </a:extLst>
          </p:cNvPr>
          <p:cNvCxnSpPr>
            <a:cxnSpLocks/>
            <a:stCxn id="8" idx="1"/>
            <a:endCxn id="25" idx="1"/>
          </p:cNvCxnSpPr>
          <p:nvPr/>
        </p:nvCxnSpPr>
        <p:spPr>
          <a:xfrm>
            <a:off x="4935412" y="4613028"/>
            <a:ext cx="468922" cy="477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01DE2EC-B4F5-B117-BECA-1B647CC9D8C0}"/>
              </a:ext>
            </a:extLst>
          </p:cNvPr>
          <p:cNvCxnSpPr>
            <a:cxnSpLocks/>
            <a:stCxn id="8" idx="1"/>
            <a:endCxn id="24" idx="1"/>
          </p:cNvCxnSpPr>
          <p:nvPr/>
        </p:nvCxnSpPr>
        <p:spPr>
          <a:xfrm flipV="1">
            <a:off x="4935412" y="4226166"/>
            <a:ext cx="468922" cy="386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AB511DC1-AB66-5EF6-1C6A-A14592E78A33}"/>
              </a:ext>
            </a:extLst>
          </p:cNvPr>
          <p:cNvSpPr txBox="1"/>
          <p:nvPr/>
        </p:nvSpPr>
        <p:spPr>
          <a:xfrm>
            <a:off x="6584535" y="3867047"/>
            <a:ext cx="2765081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/>
              <a:t>1. ERC20</a:t>
            </a:r>
            <a:r>
              <a:rPr lang="zh-CN" altLang="en-US" sz="1200" dirty="0"/>
              <a:t>代幣</a:t>
            </a:r>
            <a:endParaRPr lang="en-US" altLang="zh-CN" sz="1200" dirty="0"/>
          </a:p>
          <a:p>
            <a:r>
              <a:rPr lang="en-US" altLang="zh-CN" sz="1200" dirty="0"/>
              <a:t>2. </a:t>
            </a:r>
            <a:r>
              <a:rPr lang="zh-CN" altLang="en-US" sz="1200" dirty="0"/>
              <a:t>支付應用場景</a:t>
            </a:r>
            <a:endParaRPr lang="en-US" altLang="zh-CN" sz="1200" dirty="0"/>
          </a:p>
          <a:p>
            <a:r>
              <a:rPr lang="en-US" altLang="zh-CN" sz="1200" dirty="0"/>
              <a:t>3. </a:t>
            </a:r>
            <a:r>
              <a:rPr lang="zh-CN" altLang="en-US" sz="1200" dirty="0"/>
              <a:t>質押獲取收益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3D4F172-62A2-A1BB-2382-91954097352F}"/>
              </a:ext>
            </a:extLst>
          </p:cNvPr>
          <p:cNvSpPr txBox="1"/>
          <p:nvPr/>
        </p:nvSpPr>
        <p:spPr>
          <a:xfrm>
            <a:off x="6582750" y="4834229"/>
            <a:ext cx="2766866" cy="4616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/>
              <a:t>1. ERC1155</a:t>
            </a:r>
          </a:p>
          <a:p>
            <a:r>
              <a:rPr lang="en-US" altLang="zh-CN" sz="1200" dirty="0"/>
              <a:t>2. </a:t>
            </a:r>
            <a:r>
              <a:rPr lang="zh-CN" altLang="en-US" sz="1200" dirty="0"/>
              <a:t>支付利息予項目</a:t>
            </a:r>
            <a:r>
              <a:rPr lang="en-US" altLang="zh-CN" sz="1200" dirty="0"/>
              <a:t>, </a:t>
            </a:r>
            <a:r>
              <a:rPr lang="zh-CN" altLang="en-US" sz="1200" dirty="0"/>
              <a:t>獲取標的資產收益</a:t>
            </a:r>
          </a:p>
        </p:txBody>
      </p:sp>
    </p:spTree>
    <p:extLst>
      <p:ext uri="{BB962C8B-B14F-4D97-AF65-F5344CB8AC3E}">
        <p14:creationId xmlns:p14="http://schemas.microsoft.com/office/powerpoint/2010/main" val="3239349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74C736D-E3F4-6284-ECAE-61CC92CC772E}"/>
              </a:ext>
            </a:extLst>
          </p:cNvPr>
          <p:cNvSpPr/>
          <p:nvPr/>
        </p:nvSpPr>
        <p:spPr>
          <a:xfrm>
            <a:off x="3359946" y="2966055"/>
            <a:ext cx="2029278" cy="362602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DC2D9BB-7083-3EE3-3947-C0A83D90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穩定幣</a:t>
            </a:r>
            <a:r>
              <a:rPr lang="en-US" altLang="zh-CN" dirty="0"/>
              <a:t>S</a:t>
            </a:r>
            <a:endParaRPr lang="zh-CN" altLang="en-US" dirty="0"/>
          </a:p>
        </p:txBody>
      </p:sp>
      <p:pic>
        <p:nvPicPr>
          <p:cNvPr id="5" name="图形 4" descr="用户 纯色填充">
            <a:extLst>
              <a:ext uri="{FF2B5EF4-FFF2-40B4-BE49-F238E27FC236}">
                <a16:creationId xmlns:a16="http://schemas.microsoft.com/office/drawing/2014/main" id="{817BFDE4-8DAD-EAC4-03C3-E8E784BFB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931" y="2883779"/>
            <a:ext cx="914400" cy="914400"/>
          </a:xfrm>
          <a:prstGeom prst="rect">
            <a:avLst/>
          </a:prstGeom>
        </p:spPr>
      </p:pic>
      <p:pic>
        <p:nvPicPr>
          <p:cNvPr id="6" name="图形 5" descr="用户 纯色填充">
            <a:extLst>
              <a:ext uri="{FF2B5EF4-FFF2-40B4-BE49-F238E27FC236}">
                <a16:creationId xmlns:a16="http://schemas.microsoft.com/office/drawing/2014/main" id="{1D031AE0-590F-5BF5-3DF4-1E9974FA8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931" y="5273857"/>
            <a:ext cx="914400" cy="914400"/>
          </a:xfrm>
          <a:prstGeom prst="rect">
            <a:avLst/>
          </a:prstGeom>
        </p:spPr>
      </p:pic>
      <p:pic>
        <p:nvPicPr>
          <p:cNvPr id="7" name="图形 6" descr="用户 纯色填充">
            <a:extLst>
              <a:ext uri="{FF2B5EF4-FFF2-40B4-BE49-F238E27FC236}">
                <a16:creationId xmlns:a16="http://schemas.microsoft.com/office/drawing/2014/main" id="{DCB8ACFD-F42A-0783-358C-A983EA633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931" y="4063281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A4AE81F-0912-0411-8A7C-4E8FE212548D}"/>
              </a:ext>
            </a:extLst>
          </p:cNvPr>
          <p:cNvSpPr txBox="1"/>
          <p:nvPr/>
        </p:nvSpPr>
        <p:spPr>
          <a:xfrm>
            <a:off x="882427" y="6251805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🚀進取型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8A72BA-FF72-ACEA-3E02-4EDC83710377}"/>
              </a:ext>
            </a:extLst>
          </p:cNvPr>
          <p:cNvSpPr txBox="1"/>
          <p:nvPr/>
        </p:nvSpPr>
        <p:spPr>
          <a:xfrm>
            <a:off x="974715" y="4941103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⚖️穩健型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84ACD4D3-0DA1-C427-E706-0B9EC4E23484}"/>
              </a:ext>
            </a:extLst>
          </p:cNvPr>
          <p:cNvSpPr/>
          <p:nvPr/>
        </p:nvSpPr>
        <p:spPr>
          <a:xfrm>
            <a:off x="2076985" y="3564397"/>
            <a:ext cx="117230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7C9F91-D168-2596-6353-583BC8E5F5CC}"/>
              </a:ext>
            </a:extLst>
          </p:cNvPr>
          <p:cNvSpPr txBox="1"/>
          <p:nvPr/>
        </p:nvSpPr>
        <p:spPr>
          <a:xfrm>
            <a:off x="2069830" y="2495999"/>
            <a:ext cx="10935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7030A0"/>
                </a:solidFill>
              </a:rPr>
              <a:t>鑄幣</a:t>
            </a:r>
            <a:r>
              <a:rPr lang="en-US" altLang="zh-CN" sz="1600" dirty="0">
                <a:solidFill>
                  <a:srgbClr val="7030A0"/>
                </a:solidFill>
              </a:rPr>
              <a:t>/</a:t>
            </a:r>
            <a:r>
              <a:rPr lang="zh-CN" altLang="en-US" sz="1600" dirty="0">
                <a:solidFill>
                  <a:srgbClr val="7030A0"/>
                </a:solidFill>
              </a:rPr>
              <a:t>贖回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2B34EC-E8BC-1439-5114-A954F2B663CD}"/>
              </a:ext>
            </a:extLst>
          </p:cNvPr>
          <p:cNvSpPr/>
          <p:nvPr/>
        </p:nvSpPr>
        <p:spPr>
          <a:xfrm>
            <a:off x="4033310" y="3286973"/>
            <a:ext cx="762000" cy="2900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 S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54C897-1A0F-6360-B742-5B03CF79B12F}"/>
              </a:ext>
            </a:extLst>
          </p:cNvPr>
          <p:cNvSpPr/>
          <p:nvPr/>
        </p:nvSpPr>
        <p:spPr>
          <a:xfrm>
            <a:off x="4033310" y="4414600"/>
            <a:ext cx="762000" cy="2900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 S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7E86E3A-5C6F-7C22-AA18-5E53405C628A}"/>
              </a:ext>
            </a:extLst>
          </p:cNvPr>
          <p:cNvSpPr/>
          <p:nvPr/>
        </p:nvSpPr>
        <p:spPr>
          <a:xfrm>
            <a:off x="4024588" y="5552045"/>
            <a:ext cx="762000" cy="29002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 S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A790D8-DD78-F945-B2F4-D21F9C80CC18}"/>
              </a:ext>
            </a:extLst>
          </p:cNvPr>
          <p:cNvSpPr/>
          <p:nvPr/>
        </p:nvSpPr>
        <p:spPr>
          <a:xfrm>
            <a:off x="4033310" y="5908587"/>
            <a:ext cx="762000" cy="29002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 L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BFCAF8-FC93-8CD1-4762-3704EEA1B932}"/>
              </a:ext>
            </a:extLst>
          </p:cNvPr>
          <p:cNvSpPr/>
          <p:nvPr/>
        </p:nvSpPr>
        <p:spPr>
          <a:xfrm>
            <a:off x="4024588" y="4778302"/>
            <a:ext cx="762000" cy="2900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 L</a:t>
            </a:r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EF761CA-AB64-7F2B-88E0-66F894951B61}"/>
              </a:ext>
            </a:extLst>
          </p:cNvPr>
          <p:cNvSpPr/>
          <p:nvPr/>
        </p:nvSpPr>
        <p:spPr>
          <a:xfrm>
            <a:off x="3791701" y="3169059"/>
            <a:ext cx="1184031" cy="82647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EA0A40-854C-B219-6E4F-0161AE2738E8}"/>
              </a:ext>
            </a:extLst>
          </p:cNvPr>
          <p:cNvSpPr/>
          <p:nvPr/>
        </p:nvSpPr>
        <p:spPr>
          <a:xfrm>
            <a:off x="4033310" y="3650675"/>
            <a:ext cx="762000" cy="29002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 L</a:t>
            </a:r>
            <a:endParaRPr lang="zh-CN" altLang="en-US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51834-B4EB-1426-767C-C6A7B34D140F}"/>
              </a:ext>
            </a:extLst>
          </p:cNvPr>
          <p:cNvSpPr/>
          <p:nvPr/>
        </p:nvSpPr>
        <p:spPr>
          <a:xfrm>
            <a:off x="3791701" y="4299292"/>
            <a:ext cx="1184031" cy="82647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35B0FFA-59FB-D9F8-7871-E3F018C98D93}"/>
              </a:ext>
            </a:extLst>
          </p:cNvPr>
          <p:cNvSpPr/>
          <p:nvPr/>
        </p:nvSpPr>
        <p:spPr>
          <a:xfrm>
            <a:off x="3791701" y="5438497"/>
            <a:ext cx="1184031" cy="82647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8F64C0F-6E17-F972-1109-F48B3120F00E}"/>
              </a:ext>
            </a:extLst>
          </p:cNvPr>
          <p:cNvSpPr/>
          <p:nvPr/>
        </p:nvSpPr>
        <p:spPr>
          <a:xfrm>
            <a:off x="6954929" y="5180774"/>
            <a:ext cx="2326888" cy="1415514"/>
          </a:xfrm>
          <a:prstGeom prst="roundRect">
            <a:avLst/>
          </a:prstGeom>
          <a:solidFill>
            <a:schemeClr val="bg1"/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AMM</a:t>
            </a:r>
            <a:r>
              <a:rPr lang="zh-CN" altLang="en-US" sz="1600" dirty="0">
                <a:solidFill>
                  <a:schemeClr val="tx1"/>
                </a:solidFill>
              </a:rPr>
              <a:t>池</a:t>
            </a:r>
            <a:r>
              <a:rPr lang="en-US" altLang="zh-CN" sz="1600" dirty="0">
                <a:solidFill>
                  <a:schemeClr val="tx1"/>
                </a:solidFill>
              </a:rPr>
              <a:t>: S + USDC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C87EC87-4D03-E795-2E46-7F2B9D8ECA89}"/>
              </a:ext>
            </a:extLst>
          </p:cNvPr>
          <p:cNvSpPr/>
          <p:nvPr/>
        </p:nvSpPr>
        <p:spPr>
          <a:xfrm>
            <a:off x="6954927" y="2926526"/>
            <a:ext cx="2326888" cy="1415513"/>
          </a:xfrm>
          <a:prstGeom prst="roundRect">
            <a:avLst/>
          </a:prstGeom>
          <a:solidFill>
            <a:schemeClr val="bg1"/>
          </a:solidFill>
          <a:ln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應用場景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B4670F2-7418-A9F5-EC54-8AF45A04842A}"/>
              </a:ext>
            </a:extLst>
          </p:cNvPr>
          <p:cNvCxnSpPr>
            <a:cxnSpLocks/>
            <a:stCxn id="11" idx="3"/>
            <a:endCxn id="25" idx="1"/>
          </p:cNvCxnSpPr>
          <p:nvPr/>
        </p:nvCxnSpPr>
        <p:spPr>
          <a:xfrm flipV="1">
            <a:off x="5389224" y="3634283"/>
            <a:ext cx="1565703" cy="11447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062AF69-FDAD-39C3-1F91-90028FB35793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5389224" y="4779069"/>
            <a:ext cx="1565705" cy="1109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箭头: 右 25">
            <a:extLst>
              <a:ext uri="{FF2B5EF4-FFF2-40B4-BE49-F238E27FC236}">
                <a16:creationId xmlns:a16="http://schemas.microsoft.com/office/drawing/2014/main" id="{9FDE5753-5113-0E46-B1AA-E1423957DEE0}"/>
              </a:ext>
            </a:extLst>
          </p:cNvPr>
          <p:cNvSpPr/>
          <p:nvPr/>
        </p:nvSpPr>
        <p:spPr>
          <a:xfrm>
            <a:off x="2043547" y="5824797"/>
            <a:ext cx="117230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0246E7E2-A804-BC2C-A773-DC63A59FFA4E}"/>
              </a:ext>
            </a:extLst>
          </p:cNvPr>
          <p:cNvSpPr/>
          <p:nvPr/>
        </p:nvSpPr>
        <p:spPr>
          <a:xfrm>
            <a:off x="2069830" y="4694597"/>
            <a:ext cx="1172307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7D90D3E-03AD-DE36-6C16-450A0D6C3E30}"/>
              </a:ext>
            </a:extLst>
          </p:cNvPr>
          <p:cNvSpPr txBox="1"/>
          <p:nvPr/>
        </p:nvSpPr>
        <p:spPr>
          <a:xfrm>
            <a:off x="7372013" y="2504119"/>
            <a:ext cx="1467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7030A0"/>
                </a:solidFill>
              </a:rPr>
              <a:t>支付</a:t>
            </a:r>
            <a:r>
              <a:rPr lang="en-US" altLang="zh-CN" sz="1600" dirty="0">
                <a:solidFill>
                  <a:srgbClr val="7030A0"/>
                </a:solidFill>
              </a:rPr>
              <a:t>(</a:t>
            </a:r>
            <a:r>
              <a:rPr lang="zh-CN" altLang="en-US" sz="1600" dirty="0">
                <a:solidFill>
                  <a:srgbClr val="7030A0"/>
                </a:solidFill>
              </a:rPr>
              <a:t>穩定幣</a:t>
            </a:r>
            <a:r>
              <a:rPr lang="en-US" altLang="zh-CN" sz="1600" dirty="0">
                <a:solidFill>
                  <a:srgbClr val="7030A0"/>
                </a:solidFill>
              </a:rPr>
              <a:t>S)</a:t>
            </a:r>
            <a:endParaRPr lang="zh-CN" altLang="en-US" sz="1600" dirty="0">
              <a:solidFill>
                <a:srgbClr val="7030A0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DCA7DD6-AA9F-0CD3-0FB3-9498329FC2BF}"/>
              </a:ext>
            </a:extLst>
          </p:cNvPr>
          <p:cNvSpPr txBox="1"/>
          <p:nvPr/>
        </p:nvSpPr>
        <p:spPr>
          <a:xfrm>
            <a:off x="7366404" y="4827117"/>
            <a:ext cx="1455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rgbClr val="7030A0"/>
                </a:solidFill>
              </a:rPr>
              <a:t>交易</a:t>
            </a:r>
            <a:r>
              <a:rPr lang="en-US" altLang="zh-CN" sz="1600" dirty="0">
                <a:solidFill>
                  <a:srgbClr val="7030A0"/>
                </a:solidFill>
              </a:rPr>
              <a:t>(</a:t>
            </a:r>
            <a:r>
              <a:rPr lang="zh-CN" altLang="en-US" sz="1600" dirty="0">
                <a:solidFill>
                  <a:srgbClr val="7030A0"/>
                </a:solidFill>
              </a:rPr>
              <a:t>買賣</a:t>
            </a:r>
            <a:r>
              <a:rPr lang="en-US" altLang="zh-CN" sz="1600" dirty="0">
                <a:solidFill>
                  <a:srgbClr val="7030A0"/>
                </a:solidFill>
              </a:rPr>
              <a:t>S/L)</a:t>
            </a:r>
            <a:endParaRPr lang="zh-CN" altLang="en-US" sz="1600" dirty="0">
              <a:solidFill>
                <a:srgbClr val="7030A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2D2929-6A03-18C4-5A09-E8E870A14EDD}"/>
              </a:ext>
            </a:extLst>
          </p:cNvPr>
          <p:cNvSpPr txBox="1"/>
          <p:nvPr/>
        </p:nvSpPr>
        <p:spPr>
          <a:xfrm>
            <a:off x="911852" y="3792811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🛡️保守型</a:t>
            </a:r>
          </a:p>
        </p:txBody>
      </p:sp>
    </p:spTree>
    <p:extLst>
      <p:ext uri="{BB962C8B-B14F-4D97-AF65-F5344CB8AC3E}">
        <p14:creationId xmlns:p14="http://schemas.microsoft.com/office/powerpoint/2010/main" val="3662695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502AA6-AF0F-C992-19BD-BCBF57DC1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杠桿幣</a:t>
            </a:r>
            <a:r>
              <a:rPr lang="en-US" altLang="zh-CN" dirty="0"/>
              <a:t>L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865A72-C209-6130-D1ED-6D2D1830A2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7408" y="1875223"/>
                <a:ext cx="11155680" cy="4507992"/>
              </a:xfrm>
            </p:spPr>
            <p:txBody>
              <a:bodyPr/>
              <a:lstStyle/>
              <a:p>
                <a:r>
                  <a:rPr lang="zh-CN" altLang="en-US" sz="1800" dirty="0"/>
                  <a:t>用戶標的數量：</a:t>
                </a:r>
                <a:r>
                  <a:rPr lang="en-US" altLang="zh-CN" sz="1800" dirty="0"/>
                  <a:t>z</a:t>
                </a:r>
              </a:p>
              <a:p>
                <a:r>
                  <a:rPr lang="zh-CN" altLang="en-US" sz="1800" dirty="0"/>
                  <a:t>鑄幣參數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:</a:t>
                </a:r>
                <a:r>
                  <a:rPr lang="zh-CN" altLang="en-US" sz="1800" b="1" dirty="0">
                    <a:solidFill>
                      <a:srgbClr val="C00000"/>
                    </a:solidFill>
                    <a:sym typeface="Wingdings" panose="05000000000000000000" pitchFamily="2" charset="2"/>
                  </a:rPr>
                  <a:t> 杠桿類型</a:t>
                </a:r>
                <a:r>
                  <a:rPr lang="en-US" altLang="zh-CN" sz="1800" dirty="0">
                    <a:sym typeface="Wingdings" panose="05000000000000000000" pitchFamily="2" charset="2"/>
                  </a:rPr>
                  <a:t> &amp; </a:t>
                </a:r>
                <a:r>
                  <a:rPr lang="zh-CN" altLang="en-US" sz="1800" b="1" dirty="0">
                    <a:solidFill>
                      <a:schemeClr val="accent6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鑄幣價格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𝑷</m:t>
                        </m:r>
                      </m:e>
                      <m:sub>
                        <m:r>
                          <a:rPr lang="en-US" altLang="zh-CN" sz="1800" b="1" i="1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𝟎</m:t>
                        </m:r>
                      </m:sub>
                    </m:sSub>
                  </m:oMath>
                </a14:m>
                <a:endParaRPr lang="en-US" altLang="zh-CN" sz="1800" dirty="0">
                  <a:sym typeface="Wingdings" panose="05000000000000000000" pitchFamily="2" charset="2"/>
                </a:endParaRPr>
              </a:p>
              <a:p>
                <a:pPr lvl="1"/>
                <a:r>
                  <a:rPr lang="zh-CN" altLang="en-US" sz="1200" dirty="0">
                    <a:sym typeface="Wingdings" panose="05000000000000000000" pitchFamily="2" charset="2"/>
                  </a:rPr>
                  <a:t>鑄幣時：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∗1+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  1   =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𝑧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</m:t>
                        </m:r>
                      </m:sub>
                    </m:sSub>
                  </m:oMath>
                </a14:m>
                <a:endParaRPr lang="en-US" altLang="zh-CN" sz="1200" dirty="0">
                  <a:sym typeface="Wingdings" panose="05000000000000000000" pitchFamily="2" charset="2"/>
                </a:endParaRPr>
              </a:p>
              <a:p>
                <a:pPr lvl="1"/>
                <a:r>
                  <a:rPr lang="zh-CN" altLang="en-US" sz="1200" dirty="0">
                    <a:sym typeface="Wingdings" panose="05000000000000000000" pitchFamily="2" charset="2"/>
                  </a:rPr>
                  <a:t>鑄幣后：</a:t>
                </a:r>
                <a:r>
                  <a:rPr lang="en-US" altLang="zh-CN" sz="1200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∗1+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𝑦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𝑛𝑎𝑣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𝑧</m:t>
                    </m:r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𝑃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 sz="1200" dirty="0">
                  <a:sym typeface="Wingdings" panose="05000000000000000000" pitchFamily="2" charset="2"/>
                </a:endParaRPr>
              </a:p>
              <a:p>
                <a:r>
                  <a:rPr lang="en-US" altLang="zh-CN" sz="1800" dirty="0"/>
                  <a:t>L token</a:t>
                </a:r>
                <a:r>
                  <a:rPr lang="zh-CN" altLang="en-US" sz="1800" dirty="0"/>
                  <a:t>净值計算</a:t>
                </a:r>
                <a:endParaRPr lang="en-US" altLang="zh-CN" sz="1200" dirty="0"/>
              </a:p>
              <a:p>
                <a:pPr lvl="1"/>
                <a:r>
                  <a:rPr lang="zh-CN" altLang="en-US" sz="1200" dirty="0"/>
                  <a:t>保守型</a:t>
                </a:r>
                <a:r>
                  <a:rPr lang="en-US" altLang="zh-CN" sz="1200" dirty="0"/>
                  <a:t>(1S8L): x/y = 1/8</a:t>
                </a:r>
                <a:r>
                  <a:rPr lang="en-US" altLang="zh-CN" sz="1200" dirty="0">
                    <a:sym typeface="Wingdings" panose="05000000000000000000" pitchFamily="2" charset="2"/>
                  </a:rPr>
                  <a:t> </a:t>
                </a:r>
                <a:r>
                  <a:rPr lang="en-US" altLang="zh-CN" sz="1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</m:t>
                        </m:r>
                      </m:den>
                    </m:f>
                    <m:r>
                      <a:rPr lang="en-US" altLang="zh-CN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𝑛𝑎𝑣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9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8∗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9</m:t>
                            </m:r>
                          </m:den>
                        </m:f>
                      </m:den>
                    </m:f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9∗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8∗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1200" dirty="0"/>
              </a:p>
              <a:p>
                <a:pPr lvl="1"/>
                <a:r>
                  <a:rPr lang="zh-CN" altLang="en-US" sz="1200" dirty="0"/>
                  <a:t>穩健型</a:t>
                </a:r>
                <a:r>
                  <a:rPr lang="en-US" altLang="zh-CN" sz="1200" dirty="0"/>
                  <a:t>(1S4L): x/y = 1/4</a:t>
                </a:r>
                <a:r>
                  <a:rPr lang="en-US" altLang="zh-CN" sz="1200" dirty="0">
                    <a:sym typeface="Wingdings" panose="05000000000000000000" pitchFamily="2" charset="2"/>
                  </a:rPr>
                  <a:t> </a:t>
                </a:r>
                <a:r>
                  <a:rPr lang="en-US" altLang="zh-CN" sz="1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den>
                    </m:f>
                    <m:r>
                      <a:rPr lang="en-US" altLang="zh-CN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𝑛𝑎𝑣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5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4∗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5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20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1200" dirty="0"/>
              </a:p>
              <a:p>
                <a:pPr lvl="1"/>
                <a:r>
                  <a:rPr lang="zh-CN" altLang="en-US" sz="1200" dirty="0"/>
                  <a:t>進取型</a:t>
                </a:r>
                <a:r>
                  <a:rPr lang="en-US" altLang="zh-CN" sz="1200" dirty="0"/>
                  <a:t>(1S1L)</a:t>
                </a:r>
                <a:r>
                  <a:rPr lang="zh-CN" altLang="en-US" sz="1200" dirty="0"/>
                  <a:t>：</a:t>
                </a:r>
                <a:r>
                  <a:rPr lang="en-US" altLang="zh-CN" sz="1200" dirty="0"/>
                  <a:t>x/y = 1/1</a:t>
                </a:r>
                <a:r>
                  <a:rPr lang="en-US" altLang="zh-CN" sz="1200" dirty="0">
                    <a:sym typeface="Wingdings" panose="05000000000000000000" pitchFamily="2" charset="2"/>
                  </a:rPr>
                  <a:t></a:t>
                </a:r>
                <a:r>
                  <a:rPr lang="en-US" altLang="zh-CN" sz="1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1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𝑛𝑎𝑣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𝐿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∗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𝑧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US" altLang="zh-CN" sz="12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2∗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12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F865A72-C209-6130-D1ED-6D2D1830A2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7408" y="1875223"/>
                <a:ext cx="11155680" cy="4507992"/>
              </a:xfrm>
              <a:blipFill>
                <a:blip r:embed="rId2"/>
                <a:stretch>
                  <a:fillRect l="-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7313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A57E8-233F-CD87-B058-B2E49275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合約關係圖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4F2C3-AA59-BD45-7F1E-E6C1627CB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372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箭头: 上下 28">
            <a:extLst>
              <a:ext uri="{FF2B5EF4-FFF2-40B4-BE49-F238E27FC236}">
                <a16:creationId xmlns:a16="http://schemas.microsoft.com/office/drawing/2014/main" id="{7CAEE82A-1C80-DADF-E997-200466ECC5F4}"/>
              </a:ext>
            </a:extLst>
          </p:cNvPr>
          <p:cNvSpPr/>
          <p:nvPr/>
        </p:nvSpPr>
        <p:spPr>
          <a:xfrm>
            <a:off x="2596662" y="3897527"/>
            <a:ext cx="45719" cy="69791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5D14223-F643-0252-015E-F6FE1AA4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AMM</a:t>
            </a:r>
            <a:r>
              <a:rPr lang="zh-CN" altLang="en-US" dirty="0"/>
              <a:t>交易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1855FD-548C-1E93-CFE8-B96AF7FE9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買賣穩定幣</a:t>
            </a:r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20DF39D-3C30-1A84-CD78-D50C3767A1B5}"/>
              </a:ext>
            </a:extLst>
          </p:cNvPr>
          <p:cNvSpPr/>
          <p:nvPr/>
        </p:nvSpPr>
        <p:spPr>
          <a:xfrm>
            <a:off x="1310065" y="4595444"/>
            <a:ext cx="2734397" cy="404446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AMM: S + USDC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CA34FE9-DB51-C842-4627-F12F4EDB14BD}"/>
              </a:ext>
            </a:extLst>
          </p:cNvPr>
          <p:cNvSpPr/>
          <p:nvPr/>
        </p:nvSpPr>
        <p:spPr>
          <a:xfrm>
            <a:off x="1310065" y="5601167"/>
            <a:ext cx="2734397" cy="40444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Liquidity Provider </a:t>
            </a:r>
            <a:endParaRPr lang="zh-CN" altLang="en-US" dirty="0"/>
          </a:p>
        </p:txBody>
      </p: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DE6C79E3-6138-7838-FD70-BE9696B49228}"/>
              </a:ext>
            </a:extLst>
          </p:cNvPr>
          <p:cNvCxnSpPr>
            <a:cxnSpLocks/>
            <a:stCxn id="5" idx="1"/>
            <a:endCxn id="4" idx="1"/>
          </p:cNvCxnSpPr>
          <p:nvPr/>
        </p:nvCxnSpPr>
        <p:spPr>
          <a:xfrm rot="10800000">
            <a:off x="1310065" y="4797668"/>
            <a:ext cx="12700" cy="1005723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6197E578-B175-CD62-39E4-BB33FF0E1C86}"/>
              </a:ext>
            </a:extLst>
          </p:cNvPr>
          <p:cNvCxnSpPr>
            <a:cxnSpLocks/>
            <a:stCxn id="4" idx="3"/>
            <a:endCxn id="5" idx="3"/>
          </p:cNvCxnSpPr>
          <p:nvPr/>
        </p:nvCxnSpPr>
        <p:spPr>
          <a:xfrm>
            <a:off x="4044462" y="4797667"/>
            <a:ext cx="12700" cy="1005723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2B0EE43-2B40-D7DA-1FF3-971BAFEA96B5}"/>
              </a:ext>
            </a:extLst>
          </p:cNvPr>
          <p:cNvSpPr txBox="1"/>
          <p:nvPr/>
        </p:nvSpPr>
        <p:spPr>
          <a:xfrm>
            <a:off x="663762" y="5216446"/>
            <a:ext cx="91300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7030A0"/>
                </a:solidFill>
              </a:rPr>
              <a:t>提供流动性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47FB988-E9E6-10EB-7C91-F28AC5EC4EFB}"/>
              </a:ext>
            </a:extLst>
          </p:cNvPr>
          <p:cNvSpPr txBox="1"/>
          <p:nvPr/>
        </p:nvSpPr>
        <p:spPr>
          <a:xfrm>
            <a:off x="4298459" y="5216446"/>
            <a:ext cx="91300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7030A0"/>
                </a:solidFill>
              </a:rPr>
              <a:t>获得</a:t>
            </a:r>
            <a:r>
              <a:rPr lang="en-US" altLang="zh-CN" sz="1000" dirty="0">
                <a:solidFill>
                  <a:srgbClr val="7030A0"/>
                </a:solidFill>
              </a:rPr>
              <a:t>LP</a:t>
            </a:r>
            <a:r>
              <a:rPr lang="zh-CN" altLang="en-US" sz="1000" dirty="0">
                <a:solidFill>
                  <a:srgbClr val="7030A0"/>
                </a:solidFill>
              </a:rPr>
              <a:t>代币</a:t>
            </a:r>
          </a:p>
        </p:txBody>
      </p:sp>
      <p:pic>
        <p:nvPicPr>
          <p:cNvPr id="19" name="图片 18" descr="直方图&#10;&#10;AI 生成的内容可能不正确。">
            <a:extLst>
              <a:ext uri="{FF2B5EF4-FFF2-40B4-BE49-F238E27FC236}">
                <a16:creationId xmlns:a16="http://schemas.microsoft.com/office/drawing/2014/main" id="{CEA8E108-E2D0-2322-62D3-C36C7228F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735" y="2531121"/>
            <a:ext cx="6248196" cy="3561471"/>
          </a:xfrm>
          <a:prstGeom prst="rect">
            <a:avLst/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25A119C-6B5F-674C-5371-9FB6356BBBEA}"/>
              </a:ext>
            </a:extLst>
          </p:cNvPr>
          <p:cNvSpPr/>
          <p:nvPr/>
        </p:nvSpPr>
        <p:spPr>
          <a:xfrm>
            <a:off x="1310064" y="3493081"/>
            <a:ext cx="2734397" cy="40444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用戶買賣</a:t>
            </a:r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C91AF43-9D07-2898-9100-9952DC42BD6C}"/>
              </a:ext>
            </a:extLst>
          </p:cNvPr>
          <p:cNvSpPr txBox="1"/>
          <p:nvPr/>
        </p:nvSpPr>
        <p:spPr>
          <a:xfrm>
            <a:off x="1700824" y="4101376"/>
            <a:ext cx="219123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7030A0"/>
                </a:solidFill>
              </a:rPr>
              <a:t>基於</a:t>
            </a:r>
            <a:r>
              <a:rPr lang="en-US" altLang="zh-CN" sz="1000" dirty="0">
                <a:solidFill>
                  <a:srgbClr val="7030A0"/>
                </a:solidFill>
              </a:rPr>
              <a:t>StableSwap </a:t>
            </a:r>
            <a:r>
              <a:rPr lang="zh-CN" altLang="en-US" sz="1000" dirty="0">
                <a:solidFill>
                  <a:srgbClr val="7030A0"/>
                </a:solidFill>
              </a:rPr>
              <a:t>使用</a:t>
            </a:r>
            <a:r>
              <a:rPr lang="en-US" altLang="zh-CN" sz="1000" dirty="0">
                <a:solidFill>
                  <a:srgbClr val="7030A0"/>
                </a:solidFill>
              </a:rPr>
              <a:t>USDC</a:t>
            </a:r>
            <a:r>
              <a:rPr lang="zh-CN" altLang="en-US" sz="1000" dirty="0">
                <a:solidFill>
                  <a:srgbClr val="7030A0"/>
                </a:solidFill>
              </a:rPr>
              <a:t>買賣</a:t>
            </a:r>
            <a:r>
              <a:rPr lang="en-US" altLang="zh-CN" sz="1000" dirty="0">
                <a:solidFill>
                  <a:srgbClr val="7030A0"/>
                </a:solidFill>
              </a:rPr>
              <a:t>S</a:t>
            </a:r>
            <a:endParaRPr lang="zh-CN" altLang="en-US" sz="1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82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84225-3AED-EF14-5E5C-DE14BF17F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B4F5F191-99B4-4FB3-DF73-43349B49897D}"/>
              </a:ext>
            </a:extLst>
          </p:cNvPr>
          <p:cNvSpPr/>
          <p:nvPr/>
        </p:nvSpPr>
        <p:spPr>
          <a:xfrm>
            <a:off x="3405558" y="3880338"/>
            <a:ext cx="4806458" cy="1676400"/>
          </a:xfrm>
          <a:prstGeom prst="round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38E6EF-0C11-8376-05F1-3E940394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AMM</a:t>
            </a:r>
            <a:r>
              <a:rPr lang="zh-CN" altLang="en-US" dirty="0"/>
              <a:t>交易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F3F6FD-96AE-9640-9EC8-CBD6F0475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買賣杠桿幣</a:t>
            </a:r>
            <a:r>
              <a:rPr lang="en-US" altLang="zh-CN" dirty="0"/>
              <a:t>L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259C02C-A195-4FDB-5FB6-C92E5F87400A}"/>
              </a:ext>
            </a:extLst>
          </p:cNvPr>
          <p:cNvSpPr/>
          <p:nvPr/>
        </p:nvSpPr>
        <p:spPr>
          <a:xfrm>
            <a:off x="3998448" y="4462272"/>
            <a:ext cx="3522785" cy="404446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AMM: S </a:t>
            </a:r>
            <a:r>
              <a:rPr lang="en-US" altLang="zh-CN" dirty="0">
                <a:sym typeface="Wingdings" panose="05000000000000000000" pitchFamily="2" charset="2"/>
              </a:rPr>
              <a:t></a:t>
            </a:r>
            <a:r>
              <a:rPr lang="en-US" altLang="zh-CN" dirty="0"/>
              <a:t> USDC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459854C-68AF-440E-BCC8-D697D7CE6AC6}"/>
              </a:ext>
            </a:extLst>
          </p:cNvPr>
          <p:cNvSpPr/>
          <p:nvPr/>
        </p:nvSpPr>
        <p:spPr>
          <a:xfrm>
            <a:off x="3405558" y="5705022"/>
            <a:ext cx="4806458" cy="490623"/>
          </a:xfrm>
          <a:prstGeom prst="roundRect">
            <a:avLst/>
          </a:prstGeom>
          <a:solidFill>
            <a:schemeClr val="bg1"/>
          </a:solidFill>
          <a:ln>
            <a:prstDash val="lgDashDot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Uniswap:</a:t>
            </a:r>
            <a:r>
              <a:rPr lang="zh-CN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</a:rPr>
              <a:t>LTC</a:t>
            </a:r>
            <a:r>
              <a:rPr lang="zh-CN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zh-CN" dirty="0">
                <a:solidFill>
                  <a:sysClr val="windowText" lastClr="000000"/>
                </a:solidFill>
                <a:sym typeface="Wingdings" panose="05000000000000000000" pitchFamily="2" charset="2"/>
              </a:rPr>
              <a:t></a:t>
            </a:r>
            <a:r>
              <a:rPr lang="en-US" altLang="zh-CN" dirty="0">
                <a:solidFill>
                  <a:sysClr val="windowText" lastClr="000000"/>
                </a:solidFill>
              </a:rPr>
              <a:t> USDC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6B2F4E5-C2E3-78D4-9B8D-62A104657690}"/>
              </a:ext>
            </a:extLst>
          </p:cNvPr>
          <p:cNvSpPr/>
          <p:nvPr/>
        </p:nvSpPr>
        <p:spPr>
          <a:xfrm>
            <a:off x="3998448" y="3215956"/>
            <a:ext cx="1371600" cy="40444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用戶買</a:t>
            </a:r>
            <a:r>
              <a:rPr lang="en-US" altLang="zh-CN" dirty="0"/>
              <a:t>L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DE5C2D7-1943-002B-A52B-209EE3333EB4}"/>
              </a:ext>
            </a:extLst>
          </p:cNvPr>
          <p:cNvSpPr/>
          <p:nvPr/>
        </p:nvSpPr>
        <p:spPr>
          <a:xfrm>
            <a:off x="6096000" y="3204228"/>
            <a:ext cx="1371600" cy="40444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用戶賣</a:t>
            </a:r>
            <a:r>
              <a:rPr lang="en-US" altLang="zh-CN" dirty="0"/>
              <a:t>L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1FD0CC9-C0EA-1C86-DD23-40878066D7D1}"/>
              </a:ext>
            </a:extLst>
          </p:cNvPr>
          <p:cNvCxnSpPr>
            <a:cxnSpLocks/>
          </p:cNvCxnSpPr>
          <p:nvPr/>
        </p:nvCxnSpPr>
        <p:spPr>
          <a:xfrm>
            <a:off x="4331677" y="3620402"/>
            <a:ext cx="0" cy="841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2584FD6D-45E7-E33C-DC3D-85952C21220F}"/>
              </a:ext>
            </a:extLst>
          </p:cNvPr>
          <p:cNvSpPr txBox="1"/>
          <p:nvPr/>
        </p:nvSpPr>
        <p:spPr>
          <a:xfrm>
            <a:off x="3922777" y="3934715"/>
            <a:ext cx="91300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7030A0"/>
                </a:solidFill>
              </a:rPr>
              <a:t>支付</a:t>
            </a:r>
            <a:r>
              <a:rPr lang="en-US" altLang="zh-CN" sz="1000" dirty="0">
                <a:solidFill>
                  <a:srgbClr val="7030A0"/>
                </a:solidFill>
              </a:rPr>
              <a:t>USDC</a:t>
            </a:r>
            <a:endParaRPr lang="zh-CN" altLang="en-US" sz="1000" dirty="0">
              <a:solidFill>
                <a:srgbClr val="7030A0"/>
              </a:solidFill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96E49B8C-E2D0-2F33-D39A-94C20A3FDD4C}"/>
              </a:ext>
            </a:extLst>
          </p:cNvPr>
          <p:cNvCxnSpPr>
            <a:cxnSpLocks/>
          </p:cNvCxnSpPr>
          <p:nvPr/>
        </p:nvCxnSpPr>
        <p:spPr>
          <a:xfrm>
            <a:off x="4331677" y="4866718"/>
            <a:ext cx="0" cy="820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319C121-52BE-6499-E644-376492ABB222}"/>
              </a:ext>
            </a:extLst>
          </p:cNvPr>
          <p:cNvSpPr txBox="1"/>
          <p:nvPr/>
        </p:nvSpPr>
        <p:spPr>
          <a:xfrm>
            <a:off x="3875176" y="5092527"/>
            <a:ext cx="913001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7030A0"/>
                </a:solidFill>
              </a:rPr>
              <a:t>USDC</a:t>
            </a:r>
            <a:r>
              <a:rPr lang="zh-CN" altLang="en-US" sz="1000" dirty="0">
                <a:solidFill>
                  <a:srgbClr val="7030A0"/>
                </a:solidFill>
              </a:rPr>
              <a:t>買</a:t>
            </a:r>
            <a:r>
              <a:rPr lang="en-US" altLang="zh-CN" sz="1000" dirty="0">
                <a:solidFill>
                  <a:srgbClr val="7030A0"/>
                </a:solidFill>
              </a:rPr>
              <a:t>LTC</a:t>
            </a:r>
            <a:endParaRPr lang="zh-CN" altLang="en-US" sz="1000" dirty="0">
              <a:solidFill>
                <a:srgbClr val="7030A0"/>
              </a:solidFill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64E3C2A-F241-C8FA-C9FC-8929611F891D}"/>
              </a:ext>
            </a:extLst>
          </p:cNvPr>
          <p:cNvCxnSpPr>
            <a:cxnSpLocks/>
          </p:cNvCxnSpPr>
          <p:nvPr/>
        </p:nvCxnSpPr>
        <p:spPr>
          <a:xfrm>
            <a:off x="6394934" y="3608674"/>
            <a:ext cx="0" cy="8418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CCC3F894-42B5-35B0-2140-E64ED140C13A}"/>
              </a:ext>
            </a:extLst>
          </p:cNvPr>
          <p:cNvSpPr txBox="1"/>
          <p:nvPr/>
        </p:nvSpPr>
        <p:spPr>
          <a:xfrm>
            <a:off x="6161882" y="3925963"/>
            <a:ext cx="63164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7030A0"/>
                </a:solidFill>
              </a:rPr>
              <a:t>支付</a:t>
            </a:r>
            <a:r>
              <a:rPr lang="en-US" altLang="zh-CN" sz="1000" dirty="0">
                <a:solidFill>
                  <a:srgbClr val="7030A0"/>
                </a:solidFill>
              </a:rPr>
              <a:t>L</a:t>
            </a:r>
            <a:endParaRPr lang="zh-CN" altLang="en-US" sz="1000" dirty="0">
              <a:solidFill>
                <a:srgbClr val="7030A0"/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1ADF52B-97F9-0559-0A5B-92CC4E11F7AF}"/>
              </a:ext>
            </a:extLst>
          </p:cNvPr>
          <p:cNvCxnSpPr>
            <a:cxnSpLocks/>
          </p:cNvCxnSpPr>
          <p:nvPr/>
        </p:nvCxnSpPr>
        <p:spPr>
          <a:xfrm>
            <a:off x="6394934" y="4854990"/>
            <a:ext cx="0" cy="820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1265C0A0-C4E8-B294-183E-212A7CF4E392}"/>
              </a:ext>
            </a:extLst>
          </p:cNvPr>
          <p:cNvSpPr txBox="1"/>
          <p:nvPr/>
        </p:nvSpPr>
        <p:spPr>
          <a:xfrm>
            <a:off x="5908779" y="5081638"/>
            <a:ext cx="97231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7030A0"/>
                </a:solidFill>
              </a:rPr>
              <a:t>L</a:t>
            </a:r>
            <a:r>
              <a:rPr lang="zh-CN" altLang="en-US" sz="1000" dirty="0">
                <a:solidFill>
                  <a:srgbClr val="7030A0"/>
                </a:solidFill>
              </a:rPr>
              <a:t>與</a:t>
            </a:r>
            <a:r>
              <a:rPr lang="en-US" altLang="zh-CN" sz="1000" dirty="0">
                <a:solidFill>
                  <a:srgbClr val="7030A0"/>
                </a:solidFill>
              </a:rPr>
              <a:t>S</a:t>
            </a:r>
            <a:r>
              <a:rPr lang="zh-CN" altLang="en-US" sz="1000" dirty="0">
                <a:solidFill>
                  <a:srgbClr val="7030A0"/>
                </a:solidFill>
              </a:rPr>
              <a:t>合并為</a:t>
            </a:r>
            <a:r>
              <a:rPr lang="en-US" altLang="zh-CN" sz="1000" dirty="0">
                <a:solidFill>
                  <a:srgbClr val="7030A0"/>
                </a:solidFill>
              </a:rPr>
              <a:t>LTC</a:t>
            </a:r>
            <a:r>
              <a:rPr lang="zh-CN" altLang="en-US" sz="1000" dirty="0">
                <a:solidFill>
                  <a:srgbClr val="7030A0"/>
                </a:solidFill>
              </a:rPr>
              <a:t>，並賣出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66186008-A068-78BC-1539-F078498AC843}"/>
              </a:ext>
            </a:extLst>
          </p:cNvPr>
          <p:cNvCxnSpPr>
            <a:cxnSpLocks/>
          </p:cNvCxnSpPr>
          <p:nvPr/>
        </p:nvCxnSpPr>
        <p:spPr>
          <a:xfrm flipV="1">
            <a:off x="5175737" y="3632130"/>
            <a:ext cx="0" cy="818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DF667DB-B9E5-9B26-AE77-27C024209F67}"/>
              </a:ext>
            </a:extLst>
          </p:cNvPr>
          <p:cNvCxnSpPr>
            <a:cxnSpLocks/>
          </p:cNvCxnSpPr>
          <p:nvPr/>
        </p:nvCxnSpPr>
        <p:spPr>
          <a:xfrm flipV="1">
            <a:off x="5181599" y="4869253"/>
            <a:ext cx="0" cy="818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EC9E06A8-6253-65B5-33CC-B041E3893B30}"/>
              </a:ext>
            </a:extLst>
          </p:cNvPr>
          <p:cNvSpPr txBox="1"/>
          <p:nvPr/>
        </p:nvSpPr>
        <p:spPr>
          <a:xfrm>
            <a:off x="4754233" y="5092527"/>
            <a:ext cx="97231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7030A0"/>
                </a:solidFill>
              </a:rPr>
              <a:t>LTC</a:t>
            </a:r>
            <a:r>
              <a:rPr lang="zh-CN" altLang="en-US" sz="1000" dirty="0">
                <a:solidFill>
                  <a:srgbClr val="7030A0"/>
                </a:solidFill>
              </a:rPr>
              <a:t>拆分</a:t>
            </a:r>
            <a:r>
              <a:rPr lang="en-US" altLang="zh-CN" sz="1000" dirty="0">
                <a:solidFill>
                  <a:srgbClr val="7030A0"/>
                </a:solidFill>
              </a:rPr>
              <a:t>S</a:t>
            </a:r>
            <a:r>
              <a:rPr lang="zh-CN" altLang="en-US" sz="1000" dirty="0">
                <a:solidFill>
                  <a:srgbClr val="7030A0"/>
                </a:solidFill>
              </a:rPr>
              <a:t>和</a:t>
            </a:r>
            <a:r>
              <a:rPr lang="en-US" altLang="zh-CN" sz="1000" dirty="0">
                <a:solidFill>
                  <a:srgbClr val="7030A0"/>
                </a:solidFill>
              </a:rPr>
              <a:t>L</a:t>
            </a:r>
            <a:endParaRPr lang="zh-CN" altLang="en-US" sz="1000" dirty="0">
              <a:solidFill>
                <a:srgbClr val="7030A0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4DFE5E3-EB41-D813-D35F-E2A53423DA89}"/>
              </a:ext>
            </a:extLst>
          </p:cNvPr>
          <p:cNvSpPr txBox="1"/>
          <p:nvPr/>
        </p:nvSpPr>
        <p:spPr>
          <a:xfrm>
            <a:off x="4860445" y="3930557"/>
            <a:ext cx="97231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7030A0"/>
                </a:solidFill>
              </a:rPr>
              <a:t>L</a:t>
            </a:r>
            <a:r>
              <a:rPr lang="zh-CN" altLang="en-US" sz="1000" dirty="0">
                <a:solidFill>
                  <a:srgbClr val="7030A0"/>
                </a:solidFill>
              </a:rPr>
              <a:t>給用戶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5B9E28D6-0193-7C0C-D983-30954E7CEFAB}"/>
              </a:ext>
            </a:extLst>
          </p:cNvPr>
          <p:cNvCxnSpPr>
            <a:cxnSpLocks/>
          </p:cNvCxnSpPr>
          <p:nvPr/>
        </p:nvCxnSpPr>
        <p:spPr>
          <a:xfrm flipV="1">
            <a:off x="7166725" y="3623297"/>
            <a:ext cx="0" cy="818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2992BEA3-0B54-221C-D3AE-3DD5ECFB1131}"/>
              </a:ext>
            </a:extLst>
          </p:cNvPr>
          <p:cNvCxnSpPr>
            <a:cxnSpLocks/>
          </p:cNvCxnSpPr>
          <p:nvPr/>
        </p:nvCxnSpPr>
        <p:spPr>
          <a:xfrm flipV="1">
            <a:off x="7172587" y="4860420"/>
            <a:ext cx="0" cy="818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6270D244-640E-B94B-C0FA-31E3C7BAC977}"/>
              </a:ext>
            </a:extLst>
          </p:cNvPr>
          <p:cNvSpPr txBox="1"/>
          <p:nvPr/>
        </p:nvSpPr>
        <p:spPr>
          <a:xfrm>
            <a:off x="6745221" y="5083694"/>
            <a:ext cx="97231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solidFill>
                  <a:srgbClr val="7030A0"/>
                </a:solidFill>
              </a:rPr>
              <a:t>獲得</a:t>
            </a:r>
            <a:r>
              <a:rPr lang="en-US" altLang="zh-CN" sz="1000" dirty="0">
                <a:solidFill>
                  <a:srgbClr val="7030A0"/>
                </a:solidFill>
              </a:rPr>
              <a:t>USDC</a:t>
            </a:r>
            <a:r>
              <a:rPr lang="zh-CN" altLang="en-US" sz="1000" dirty="0">
                <a:solidFill>
                  <a:srgbClr val="7030A0"/>
                </a:solidFill>
              </a:rPr>
              <a:t>存入</a:t>
            </a:r>
            <a:r>
              <a:rPr lang="en-US" altLang="zh-CN" sz="1000" dirty="0">
                <a:solidFill>
                  <a:srgbClr val="7030A0"/>
                </a:solidFill>
              </a:rPr>
              <a:t>AMM</a:t>
            </a:r>
            <a:endParaRPr lang="zh-CN" altLang="en-US" sz="1000" dirty="0">
              <a:solidFill>
                <a:srgbClr val="7030A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0330148-1AB5-2EC8-49E5-175231716EBB}"/>
              </a:ext>
            </a:extLst>
          </p:cNvPr>
          <p:cNvSpPr txBox="1"/>
          <p:nvPr/>
        </p:nvSpPr>
        <p:spPr>
          <a:xfrm>
            <a:off x="6720834" y="3928936"/>
            <a:ext cx="143678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7030A0"/>
                </a:solidFill>
              </a:rPr>
              <a:t>USDC</a:t>
            </a:r>
            <a:r>
              <a:rPr lang="zh-CN" altLang="en-US" sz="1000" dirty="0">
                <a:solidFill>
                  <a:srgbClr val="7030A0"/>
                </a:solidFill>
              </a:rPr>
              <a:t>給用戶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CA44E8-AC10-57AD-7B36-9BEAC827E1F9}"/>
              </a:ext>
            </a:extLst>
          </p:cNvPr>
          <p:cNvSpPr txBox="1"/>
          <p:nvPr/>
        </p:nvSpPr>
        <p:spPr>
          <a:xfrm>
            <a:off x="1779123" y="420581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内部池：</a:t>
            </a:r>
            <a:endParaRPr lang="en-US" altLang="zh-CN" sz="1400" dirty="0">
              <a:solidFill>
                <a:srgbClr val="7030A0"/>
              </a:solidFill>
            </a:endParaRPr>
          </a:p>
          <a:p>
            <a:r>
              <a:rPr lang="zh-CN" altLang="en-US" sz="1400" dirty="0">
                <a:solidFill>
                  <a:srgbClr val="7030A0"/>
                </a:solidFill>
              </a:rPr>
              <a:t>買賣邏輯處理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296D98-3CCF-4C50-DCAF-A83E01081E7D}"/>
              </a:ext>
            </a:extLst>
          </p:cNvPr>
          <p:cNvSpPr txBox="1"/>
          <p:nvPr/>
        </p:nvSpPr>
        <p:spPr>
          <a:xfrm>
            <a:off x="1779123" y="554501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rgbClr val="7030A0"/>
                </a:solidFill>
              </a:rPr>
              <a:t>外部池：</a:t>
            </a:r>
            <a:endParaRPr lang="en-US" altLang="zh-CN" sz="1400" dirty="0">
              <a:solidFill>
                <a:srgbClr val="7030A0"/>
              </a:solidFill>
            </a:endParaRPr>
          </a:p>
          <a:p>
            <a:r>
              <a:rPr lang="zh-CN" altLang="en-US" sz="1400" dirty="0">
                <a:solidFill>
                  <a:srgbClr val="7030A0"/>
                </a:solidFill>
              </a:rPr>
              <a:t>資產風險轉移</a:t>
            </a:r>
          </a:p>
        </p:txBody>
      </p:sp>
    </p:spTree>
    <p:extLst>
      <p:ext uri="{BB962C8B-B14F-4D97-AF65-F5344CB8AC3E}">
        <p14:creationId xmlns:p14="http://schemas.microsoft.com/office/powerpoint/2010/main" val="4127286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1E773A-C6A4-4931-EFD0-98A7CBADA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AMM</a:t>
            </a:r>
            <a:r>
              <a:rPr lang="zh-CN" altLang="en-US" dirty="0"/>
              <a:t>交易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98269A-84D6-1E12-921B-0B8F64B11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112" y="2751174"/>
            <a:ext cx="5522273" cy="3767328"/>
          </a:xfr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買入</a:t>
            </a:r>
            <a:r>
              <a:rPr lang="en-US" altLang="zh-CN" dirty="0"/>
              <a:t>L token</a:t>
            </a:r>
            <a:r>
              <a:rPr lang="zh-CN" altLang="en-US" dirty="0"/>
              <a:t>具體代碼流程舉例</a:t>
            </a:r>
            <a:endParaRPr lang="en-US" altLang="zh-CN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Approve</a:t>
            </a:r>
            <a:r>
              <a:rPr lang="zh-CN" altLang="en-US" sz="1600" b="1" dirty="0">
                <a:solidFill>
                  <a:srgbClr val="C00000"/>
                </a:solidFill>
              </a:rPr>
              <a:t>： </a:t>
            </a:r>
            <a:r>
              <a:rPr lang="zh-CN" altLang="en-US" sz="1600" dirty="0"/>
              <a:t>授予</a:t>
            </a:r>
            <a:r>
              <a:rPr lang="en-US" altLang="zh-CN" sz="1600" dirty="0"/>
              <a:t>USDC</a:t>
            </a:r>
            <a:r>
              <a:rPr lang="zh-CN" altLang="en-US" sz="1600" dirty="0"/>
              <a:t>額度給</a:t>
            </a:r>
            <a:r>
              <a:rPr lang="en-US" altLang="zh-CN" sz="1600" dirty="0"/>
              <a:t>Uniswap</a:t>
            </a:r>
          </a:p>
          <a:p>
            <a:pPr lvl="1"/>
            <a:r>
              <a:rPr lang="en-US" altLang="zh-CN" sz="1600" b="1" dirty="0" err="1">
                <a:solidFill>
                  <a:srgbClr val="C00000"/>
                </a:solidFill>
              </a:rPr>
              <a:t>Exacuate</a:t>
            </a:r>
            <a:r>
              <a:rPr lang="zh-CN" altLang="en-US" sz="1600" b="1" dirty="0">
                <a:solidFill>
                  <a:srgbClr val="C00000"/>
                </a:solidFill>
              </a:rPr>
              <a:t>：</a:t>
            </a:r>
            <a:r>
              <a:rPr lang="zh-CN" altLang="en-US" sz="1600" dirty="0"/>
              <a:t>執行從</a:t>
            </a:r>
            <a:r>
              <a:rPr lang="en-US" altLang="zh-CN" sz="1600" dirty="0"/>
              <a:t>Uniswap</a:t>
            </a:r>
            <a:r>
              <a:rPr lang="zh-CN" altLang="en-US" sz="1600" dirty="0"/>
              <a:t>中買入</a:t>
            </a:r>
            <a:r>
              <a:rPr lang="en-US" altLang="zh-CN" sz="1600" dirty="0"/>
              <a:t>LTC</a:t>
            </a:r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Approve</a:t>
            </a:r>
            <a:r>
              <a:rPr lang="zh-CN" altLang="en-US" sz="1600" b="1" dirty="0">
                <a:solidFill>
                  <a:srgbClr val="C00000"/>
                </a:solidFill>
              </a:rPr>
              <a:t>： </a:t>
            </a:r>
            <a:r>
              <a:rPr lang="zh-CN" altLang="en-US" sz="1600" dirty="0"/>
              <a:t>授予</a:t>
            </a:r>
            <a:r>
              <a:rPr lang="en-US" altLang="zh-CN" sz="1600" dirty="0"/>
              <a:t>LTC</a:t>
            </a:r>
            <a:r>
              <a:rPr lang="zh-CN" altLang="en-US" sz="1600" dirty="0"/>
              <a:t>額度給</a:t>
            </a:r>
            <a:r>
              <a:rPr lang="en-US" altLang="zh-CN" sz="1600" dirty="0"/>
              <a:t>Custodian</a:t>
            </a:r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Mint</a:t>
            </a:r>
            <a:r>
              <a:rPr lang="zh-CN" altLang="en-US" sz="1600" b="1" dirty="0">
                <a:solidFill>
                  <a:srgbClr val="C00000"/>
                </a:solidFill>
              </a:rPr>
              <a:t>：       </a:t>
            </a:r>
            <a:r>
              <a:rPr lang="zh-CN" altLang="en-US" sz="1600" dirty="0"/>
              <a:t>執行具體的鑄幣</a:t>
            </a:r>
            <a:endParaRPr lang="en-US" altLang="zh-CN" sz="1600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Approve:   </a:t>
            </a:r>
            <a:r>
              <a:rPr lang="zh-CN" altLang="en-US" sz="1600" dirty="0"/>
              <a:t>授予</a:t>
            </a:r>
            <a:r>
              <a:rPr lang="en-US" altLang="zh-CN" sz="1600" dirty="0"/>
              <a:t>S</a:t>
            </a:r>
            <a:r>
              <a:rPr lang="zh-CN" altLang="en-US" sz="1600" dirty="0"/>
              <a:t>額度給</a:t>
            </a:r>
            <a:r>
              <a:rPr lang="en-US" altLang="zh-CN" sz="1600" dirty="0" err="1"/>
              <a:t>AMMLiquidity</a:t>
            </a:r>
            <a:endParaRPr lang="en-US" altLang="zh-CN" sz="1600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Transfer:   </a:t>
            </a:r>
            <a:r>
              <a:rPr lang="zh-CN" altLang="en-US" sz="1600" dirty="0"/>
              <a:t>將</a:t>
            </a:r>
            <a:r>
              <a:rPr lang="en-US" altLang="zh-CN" sz="1600" dirty="0"/>
              <a:t>S</a:t>
            </a:r>
            <a:r>
              <a:rPr lang="zh-CN" altLang="en-US" sz="1600" dirty="0"/>
              <a:t>轉移到</a:t>
            </a:r>
            <a:r>
              <a:rPr lang="en-US" altLang="zh-CN" sz="1600" dirty="0" err="1"/>
              <a:t>AMMLiquidity</a:t>
            </a:r>
            <a:endParaRPr lang="en-US" altLang="zh-CN" sz="1600" dirty="0"/>
          </a:p>
          <a:p>
            <a:pPr lvl="1"/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0E3BD5E-0AAF-F533-3B41-B0B57D3E81FC}"/>
              </a:ext>
            </a:extLst>
          </p:cNvPr>
          <p:cNvSpPr txBox="1">
            <a:spLocks/>
          </p:cNvSpPr>
          <p:nvPr/>
        </p:nvSpPr>
        <p:spPr>
          <a:xfrm>
            <a:off x="6089904" y="2751174"/>
            <a:ext cx="5574792" cy="376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賣出</a:t>
            </a:r>
            <a:r>
              <a:rPr lang="en-US" altLang="zh-CN" dirty="0"/>
              <a:t>L token</a:t>
            </a:r>
            <a:r>
              <a:rPr lang="zh-CN" altLang="en-US" dirty="0"/>
              <a:t>具體代碼流程舉例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</a:rPr>
              <a:t>Approve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： </a:t>
            </a:r>
            <a:r>
              <a:rPr lang="zh-CN" altLang="en-US" dirty="0"/>
              <a:t>授予</a:t>
            </a:r>
            <a:r>
              <a:rPr lang="en-US" altLang="zh-CN" dirty="0"/>
              <a:t>L</a:t>
            </a:r>
            <a:r>
              <a:rPr lang="zh-CN" altLang="en-US" dirty="0"/>
              <a:t>額度給</a:t>
            </a:r>
            <a:r>
              <a:rPr lang="en-US" altLang="zh-CN" dirty="0" err="1"/>
              <a:t>AMMSwap</a:t>
            </a:r>
            <a:endParaRPr lang="en-US" altLang="zh-CN" dirty="0"/>
          </a:p>
          <a:p>
            <a:pPr lvl="1"/>
            <a:r>
              <a:rPr lang="en-US" altLang="zh-CN" b="1" dirty="0" err="1">
                <a:solidFill>
                  <a:schemeClr val="accent6">
                    <a:lumMod val="75000"/>
                  </a:schemeClr>
                </a:solidFill>
              </a:rPr>
              <a:t>Exacuate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</a:rPr>
              <a:t>：</a:t>
            </a:r>
            <a:r>
              <a:rPr lang="zh-CN" altLang="en-US" dirty="0"/>
              <a:t>執行</a:t>
            </a:r>
            <a:r>
              <a:rPr lang="en-US" altLang="zh-CN" dirty="0"/>
              <a:t>Uniswap</a:t>
            </a:r>
            <a:r>
              <a:rPr lang="zh-CN" altLang="en-US" dirty="0"/>
              <a:t>中賣出</a:t>
            </a:r>
            <a:r>
              <a:rPr lang="en-US" altLang="zh-CN" dirty="0"/>
              <a:t>LTC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6339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4E5F9-6648-A61F-2967-47380C57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清算模塊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3B4109-A0E3-16FB-5BCB-027FB0882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55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1A041-D74A-CEEE-EF61-458CEBB6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E742DC-9C15-EC8F-B58A-D0A2FC6FD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預言機模塊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436371-A19D-0D01-ECAA-1FE0527D7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975" y="2112264"/>
            <a:ext cx="4888992" cy="3767328"/>
          </a:xfrm>
        </p:spPr>
        <p:txBody>
          <a:bodyPr/>
          <a:lstStyle/>
          <a:p>
            <a:r>
              <a:rPr lang="zh-CN" altLang="en-US" dirty="0"/>
              <a:t>第一種方法：自建預言機，在自己的服務器上运行脚本，可以定期或手動把鏈下的</a:t>
            </a:r>
            <a:r>
              <a:rPr lang="en-US" altLang="zh-CN" dirty="0"/>
              <a:t>LTC/USD</a:t>
            </a:r>
            <a:r>
              <a:rPr lang="zh-CN" altLang="en-US" dirty="0"/>
              <a:t>價格傳到鏈上，通過</a:t>
            </a:r>
            <a:r>
              <a:rPr lang="en-US" altLang="zh-CN" dirty="0"/>
              <a:t>python</a:t>
            </a:r>
            <a:r>
              <a:rPr lang="zh-CN" altLang="en-US" dirty="0"/>
              <a:t>和</a:t>
            </a:r>
            <a:r>
              <a:rPr lang="en-US" altLang="zh-CN" dirty="0"/>
              <a:t>RPC</a:t>
            </a:r>
            <a:r>
              <a:rPr lang="zh-CN" altLang="en-US" dirty="0"/>
              <a:t>平台</a:t>
            </a:r>
            <a:r>
              <a:rPr lang="en-US" altLang="zh-CN" dirty="0"/>
              <a:t>Alchemy</a:t>
            </a:r>
            <a:r>
              <a:rPr lang="zh-CN" altLang="en-US" dirty="0"/>
              <a:t>實現。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C6E06C8-7284-C0B6-C256-3720AD4C8F83}"/>
              </a:ext>
            </a:extLst>
          </p:cNvPr>
          <p:cNvSpPr txBox="1">
            <a:spLocks/>
          </p:cNvSpPr>
          <p:nvPr/>
        </p:nvSpPr>
        <p:spPr>
          <a:xfrm>
            <a:off x="6179481" y="2112264"/>
            <a:ext cx="4888992" cy="3767328"/>
          </a:xfrm>
          <a:prstGeom prst="rect">
            <a:avLst/>
          </a:prstGeom>
        </p:spPr>
        <p:txBody>
          <a:bodyPr lIns="109728" tIns="109728" rIns="109728" bIns="91440"/>
          <a:lstStyle>
            <a:lvl1pPr marL="228600" indent="-228600" algn="l" defTabSz="914400" rtl="0" eaLnBrk="1" latinLnBrk="0" hangingPunct="1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5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 spc="16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第二種方法：通過</a:t>
            </a:r>
            <a:r>
              <a:rPr lang="en-US" altLang="zh-CN" dirty="0" err="1"/>
              <a:t>DataFeed</a:t>
            </a:r>
            <a:r>
              <a:rPr lang="zh-CN" altLang="en-US" dirty="0"/>
              <a:t>平台</a:t>
            </a:r>
            <a:r>
              <a:rPr lang="en-US" altLang="zh-CN" dirty="0"/>
              <a:t>API3</a:t>
            </a:r>
            <a:r>
              <a:rPr lang="zh-CN" altLang="en-US" dirty="0"/>
              <a:t>，激活並整合一个</a:t>
            </a:r>
            <a:r>
              <a:rPr lang="en-US" altLang="zh-CN" dirty="0" err="1"/>
              <a:t>Sepolia</a:t>
            </a:r>
            <a:r>
              <a:rPr lang="zh-CN" altLang="en-US" dirty="0"/>
              <a:t>鏈上地址，然后部署</a:t>
            </a:r>
            <a:r>
              <a:rPr lang="en-US" altLang="zh-CN" dirty="0"/>
              <a:t>API3_LTCUSD.sol</a:t>
            </a:r>
            <a:r>
              <a:rPr lang="zh-CN" altLang="en-US" dirty="0"/>
              <a:t>到該地址上，可以成功獲取</a:t>
            </a:r>
            <a:r>
              <a:rPr lang="en-US" altLang="zh-CN" dirty="0"/>
              <a:t>API3</a:t>
            </a:r>
            <a:r>
              <a:rPr lang="zh-CN" altLang="en-US" dirty="0"/>
              <a:t>在鏈上的</a:t>
            </a:r>
            <a:r>
              <a:rPr lang="en-US" altLang="zh-CN" dirty="0"/>
              <a:t>LTC/USD price</a:t>
            </a:r>
            <a:r>
              <a:rPr lang="zh-CN" altLang="en-US" dirty="0"/>
              <a:t>。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4294B27-B232-161C-B675-FD70991E3D7D}"/>
              </a:ext>
            </a:extLst>
          </p:cNvPr>
          <p:cNvSpPr/>
          <p:nvPr/>
        </p:nvSpPr>
        <p:spPr>
          <a:xfrm>
            <a:off x="1507404" y="4902200"/>
            <a:ext cx="1016000" cy="368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4F58313-D301-7CA7-C465-27FEC9DF691A}"/>
              </a:ext>
            </a:extLst>
          </p:cNvPr>
          <p:cNvSpPr/>
          <p:nvPr/>
        </p:nvSpPr>
        <p:spPr>
          <a:xfrm>
            <a:off x="3695529" y="4902200"/>
            <a:ext cx="1016000" cy="368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8C2EADA-D772-AE07-6A4A-705DBA8027BF}"/>
              </a:ext>
            </a:extLst>
          </p:cNvPr>
          <p:cNvSpPr/>
          <p:nvPr/>
        </p:nvSpPr>
        <p:spPr>
          <a:xfrm>
            <a:off x="487679" y="4533900"/>
            <a:ext cx="867325" cy="134569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币安平台等</a:t>
            </a:r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71DC6C6-EC96-3442-9E82-2E7408FCE2A2}"/>
              </a:ext>
            </a:extLst>
          </p:cNvPr>
          <p:cNvSpPr/>
          <p:nvPr/>
        </p:nvSpPr>
        <p:spPr>
          <a:xfrm>
            <a:off x="4861305" y="4533900"/>
            <a:ext cx="867325" cy="134569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鏈上項目地址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51405B-E487-6C6F-42E6-1EE847479555}"/>
              </a:ext>
            </a:extLst>
          </p:cNvPr>
          <p:cNvSpPr/>
          <p:nvPr/>
        </p:nvSpPr>
        <p:spPr>
          <a:xfrm>
            <a:off x="2675804" y="4533900"/>
            <a:ext cx="867325" cy="134569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綫下服務器</a:t>
            </a:r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362C2A2-C927-247B-37BA-143D30174498}"/>
              </a:ext>
            </a:extLst>
          </p:cNvPr>
          <p:cNvSpPr/>
          <p:nvPr/>
        </p:nvSpPr>
        <p:spPr>
          <a:xfrm>
            <a:off x="8363966" y="4902200"/>
            <a:ext cx="1016000" cy="368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F6B13E-6D84-1CEF-C4D2-81B9F5CFAD7F}"/>
              </a:ext>
            </a:extLst>
          </p:cNvPr>
          <p:cNvSpPr/>
          <p:nvPr/>
        </p:nvSpPr>
        <p:spPr>
          <a:xfrm>
            <a:off x="9529742" y="4533900"/>
            <a:ext cx="867325" cy="134569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鏈上項目地址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3D6F0E-308F-B067-CC5F-E94D56C04A59}"/>
              </a:ext>
            </a:extLst>
          </p:cNvPr>
          <p:cNvSpPr/>
          <p:nvPr/>
        </p:nvSpPr>
        <p:spPr>
          <a:xfrm>
            <a:off x="7344241" y="4533900"/>
            <a:ext cx="867325" cy="134569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鏈上</a:t>
            </a:r>
            <a:r>
              <a:rPr lang="en-US" altLang="zh-CN" dirty="0"/>
              <a:t>API3</a:t>
            </a:r>
            <a:r>
              <a:rPr lang="zh-CN" altLang="en-US" dirty="0"/>
              <a:t>平台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9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DE7A7-94F3-63E5-5DAC-CC82C7A9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8945A9-AD73-40B1-3D9F-944E9C42E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62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510F587-3D3C-89BE-55AD-E0174ACF5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zh-CN" altLang="en-US"/>
              <a:t>附錄</a:t>
            </a:r>
            <a:r>
              <a:rPr lang="en-US" altLang="zh-CN"/>
              <a:t>——</a:t>
            </a:r>
            <a:r>
              <a:rPr lang="zh-CN" altLang="en-US"/>
              <a:t>部署地址</a:t>
            </a:r>
            <a:endParaRPr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C42BC9A7-9406-8528-C2C8-EA05E6E75C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078762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7817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3E0FB-661A-7ACA-F6AF-3961963EC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附錄</a:t>
            </a:r>
            <a:r>
              <a:rPr lang="en-US" altLang="zh-CN" dirty="0"/>
              <a:t>——</a:t>
            </a:r>
            <a:r>
              <a:rPr lang="en-US" altLang="zh-CN" dirty="0" err="1"/>
              <a:t>Github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CF3735-6280-8620-1072-9C7A705C4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6466062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8F173B-C7AF-4476-AF32-7786E54967B9}">
  <we:reference id="wa200005566" version="3.0.0.3" store="zh-CN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22652</TotalTime>
  <Words>692</Words>
  <Application>Microsoft Office PowerPoint</Application>
  <PresentationFormat>宽屏</PresentationFormat>
  <Paragraphs>111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Microsoft YaHei</vt:lpstr>
      <vt:lpstr>等线</vt:lpstr>
      <vt:lpstr>Arial</vt:lpstr>
      <vt:lpstr>Cambria Math</vt:lpstr>
      <vt:lpstr>Wingdings</vt:lpstr>
      <vt:lpstr>GestaltVTI</vt:lpstr>
      <vt:lpstr>基于LTC的稳定币S项目</vt:lpstr>
      <vt:lpstr>目錄</vt:lpstr>
      <vt:lpstr>項目概述</vt:lpstr>
      <vt:lpstr>穩定幣S</vt:lpstr>
      <vt:lpstr>杠桿幣L</vt:lpstr>
      <vt:lpstr>合約關係圖</vt:lpstr>
      <vt:lpstr>AMM交易</vt:lpstr>
      <vt:lpstr>AMM交易</vt:lpstr>
      <vt:lpstr>AMM交易</vt:lpstr>
      <vt:lpstr>清算模塊</vt:lpstr>
      <vt:lpstr>預言機模塊</vt:lpstr>
      <vt:lpstr>前端</vt:lpstr>
      <vt:lpstr>附錄——部署地址</vt:lpstr>
      <vt:lpstr>附錄——Github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葛磊</dc:creator>
  <cp:lastModifiedBy>磊 葛</cp:lastModifiedBy>
  <cp:revision>260</cp:revision>
  <dcterms:created xsi:type="dcterms:W3CDTF">2023-08-09T12:44:00Z</dcterms:created>
  <dcterms:modified xsi:type="dcterms:W3CDTF">2025-11-21T12:24:12Z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0FFB374EF87741258E9EC42A4DEF22FC_13</vt:lpwstr>
  </property>
</Properties>
</file>